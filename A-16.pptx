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60" r:id="rId4"/>
    <p:sldId id="264" r:id="rId5"/>
    <p:sldId id="266" r:id="rId6"/>
    <p:sldId id="267" r:id="rId7"/>
    <p:sldId id="268" r:id="rId8"/>
    <p:sldId id="293" r:id="rId9"/>
    <p:sldId id="269" r:id="rId10"/>
    <p:sldId id="270" r:id="rId11"/>
    <p:sldId id="271" r:id="rId12"/>
    <p:sldId id="280" r:id="rId13"/>
    <p:sldId id="281" r:id="rId14"/>
    <p:sldId id="273" r:id="rId15"/>
    <p:sldId id="291" r:id="rId16"/>
    <p:sldId id="292" r:id="rId17"/>
    <p:sldId id="276" r:id="rId18"/>
    <p:sldId id="285" r:id="rId19"/>
    <p:sldId id="278" r:id="rId20"/>
    <p:sldId id="286" r:id="rId21"/>
    <p:sldId id="287" r:id="rId22"/>
    <p:sldId id="290" r:id="rId23"/>
    <p:sldId id="288" r:id="rId24"/>
    <p:sldId id="289" r:id="rId25"/>
    <p:sldId id="274" r:id="rId26"/>
    <p:sldId id="275" r:id="rId27"/>
  </p:sldIdLst>
  <p:sldSz cx="102250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9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926" y="-182"/>
      </p:cViewPr>
      <p:guideLst>
        <p:guide orient="horz" pos="2160"/>
        <p:guide pos="32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C46B97-D10E-467A-B0B8-E63DACDE99E5}" type="datetimeFigureOut">
              <a:rPr lang="en-IN" smtClean="0"/>
              <a:t>20-04-2026</a:t>
            </a:fld>
            <a:endParaRPr lang="en-IN"/>
          </a:p>
        </p:txBody>
      </p:sp>
      <p:sp>
        <p:nvSpPr>
          <p:cNvPr id="4" name="Slide Image Placeholder 3"/>
          <p:cNvSpPr>
            <a:spLocks noGrp="1" noRot="1" noChangeAspect="1"/>
          </p:cNvSpPr>
          <p:nvPr>
            <p:ph type="sldImg" idx="2"/>
          </p:nvPr>
        </p:nvSpPr>
        <p:spPr>
          <a:xfrm>
            <a:off x="873125" y="685800"/>
            <a:ext cx="511175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BED908-919F-49F3-ACAB-60F9B74A4962}" type="slidenum">
              <a:rPr lang="en-IN" smtClean="0"/>
              <a:t>‹#›</a:t>
            </a:fld>
            <a:endParaRPr lang="en-IN"/>
          </a:p>
        </p:txBody>
      </p:sp>
    </p:spTree>
    <p:extLst>
      <p:ext uri="{BB962C8B-B14F-4D97-AF65-F5344CB8AC3E}">
        <p14:creationId xmlns:p14="http://schemas.microsoft.com/office/powerpoint/2010/main" val="4155418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6885" y="2130430"/>
            <a:ext cx="8691325" cy="1470025"/>
          </a:xfrm>
        </p:spPr>
        <p:txBody>
          <a:bodyPr/>
          <a:lstStyle/>
          <a:p>
            <a:r>
              <a:rPr lang="en-US"/>
              <a:t>Click to edit Master title style</a:t>
            </a:r>
            <a:endParaRPr lang="en-IN"/>
          </a:p>
        </p:txBody>
      </p:sp>
      <p:sp>
        <p:nvSpPr>
          <p:cNvPr id="3" name="Subtitle 2"/>
          <p:cNvSpPr>
            <a:spLocks noGrp="1"/>
          </p:cNvSpPr>
          <p:nvPr>
            <p:ph type="subTitle" idx="1"/>
          </p:nvPr>
        </p:nvSpPr>
        <p:spPr>
          <a:xfrm>
            <a:off x="1533764" y="3886200"/>
            <a:ext cx="7157562"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835E8CC-4161-4F97-99A6-B58FDE75A0AA}"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11626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35E8CC-4161-4F97-99A6-B58FDE75A0AA}"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1485149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07714" y="4406905"/>
            <a:ext cx="8691325"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807714" y="2906713"/>
            <a:ext cx="869132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5E8CC-4161-4F97-99A6-B58FDE75A0AA}"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1430493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11258" y="1600205"/>
            <a:ext cx="451608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97757" y="1600205"/>
            <a:ext cx="451608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835E8CC-4161-4F97-99A6-B58FDE75A0AA}"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2397331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511256" y="1535113"/>
            <a:ext cx="45178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1256" y="2174875"/>
            <a:ext cx="451785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194204" y="1535113"/>
            <a:ext cx="45196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94204" y="2174875"/>
            <a:ext cx="45196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835E8CC-4161-4F97-99A6-B58FDE75A0AA}" type="datetimeFigureOut">
              <a:rPr lang="en-IN" smtClean="0"/>
              <a:t>20-04-2026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2001020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835E8CC-4161-4F97-99A6-B58FDE75A0AA}" type="datetimeFigureOut">
              <a:rPr lang="en-IN" smtClean="0"/>
              <a:t>20-04-2026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81714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5E8CC-4161-4F97-99A6-B58FDE75A0AA}" type="datetimeFigureOut">
              <a:rPr lang="en-IN" smtClean="0"/>
              <a:t>20-04-2026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995142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1256" y="273050"/>
            <a:ext cx="33639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997726" y="273055"/>
            <a:ext cx="571610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511256" y="1435103"/>
            <a:ext cx="33639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35E8CC-4161-4F97-99A6-B58FDE75A0AA}"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2741036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04190" y="4800600"/>
            <a:ext cx="6135053"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004190" y="612775"/>
            <a:ext cx="613505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004190" y="5367338"/>
            <a:ext cx="613505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35E8CC-4161-4F97-99A6-B58FDE75A0AA}"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124898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35E8CC-4161-4F97-99A6-B58FDE75A0AA}"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2223982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13190" y="274643"/>
            <a:ext cx="2300645"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11254" y="274643"/>
            <a:ext cx="6731516"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35E8CC-4161-4F97-99A6-B58FDE75A0AA}"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1655D-A3B6-4A5F-BDAB-F614110D253B}" type="slidenum">
              <a:rPr lang="en-IN" smtClean="0"/>
              <a:t>‹#›</a:t>
            </a:fld>
            <a:endParaRPr lang="en-IN"/>
          </a:p>
        </p:txBody>
      </p:sp>
    </p:spTree>
    <p:extLst>
      <p:ext uri="{BB962C8B-B14F-4D97-AF65-F5344CB8AC3E}">
        <p14:creationId xmlns:p14="http://schemas.microsoft.com/office/powerpoint/2010/main" val="108011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1258" y="274638"/>
            <a:ext cx="9202579"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511258" y="1600205"/>
            <a:ext cx="9202579"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511258" y="6356355"/>
            <a:ext cx="238585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35E8CC-4161-4F97-99A6-B58FDE75A0AA}" type="datetimeFigureOut">
              <a:rPr lang="en-IN" smtClean="0"/>
              <a:t>20-04-2026</a:t>
            </a:fld>
            <a:endParaRPr lang="en-IN"/>
          </a:p>
        </p:txBody>
      </p:sp>
      <p:sp>
        <p:nvSpPr>
          <p:cNvPr id="5" name="Footer Placeholder 4"/>
          <p:cNvSpPr>
            <a:spLocks noGrp="1"/>
          </p:cNvSpPr>
          <p:nvPr>
            <p:ph type="ftr" sz="quarter" idx="3"/>
          </p:nvPr>
        </p:nvSpPr>
        <p:spPr>
          <a:xfrm>
            <a:off x="3493574" y="6356355"/>
            <a:ext cx="323794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7327983" y="6356355"/>
            <a:ext cx="23858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E1655D-A3B6-4A5F-BDAB-F614110D253B}" type="slidenum">
              <a:rPr lang="en-IN" smtClean="0"/>
              <a:t>‹#›</a:t>
            </a:fld>
            <a:endParaRPr lang="en-IN"/>
          </a:p>
        </p:txBody>
      </p:sp>
    </p:spTree>
    <p:extLst>
      <p:ext uri="{BB962C8B-B14F-4D97-AF65-F5344CB8AC3E}">
        <p14:creationId xmlns:p14="http://schemas.microsoft.com/office/powerpoint/2010/main" val="3821101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6376" y="1445292"/>
            <a:ext cx="8691325" cy="838200"/>
          </a:xfrm>
        </p:spPr>
        <p:txBody>
          <a:bodyPr>
            <a:noAutofit/>
          </a:bodyPr>
          <a:lstStyle/>
          <a:p>
            <a:r>
              <a:rPr lang="en-US" sz="3200" dirty="0" err="1">
                <a:latin typeface="Times New Roman" pitchFamily="18" charset="0"/>
                <a:cs typeface="Times New Roman" pitchFamily="18" charset="0"/>
              </a:rPr>
              <a:t>LandSlide</a:t>
            </a:r>
            <a:r>
              <a:rPr lang="en-US" sz="3200" dirty="0">
                <a:latin typeface="Times New Roman" pitchFamily="18" charset="0"/>
                <a:cs typeface="Times New Roman" pitchFamily="18" charset="0"/>
              </a:rPr>
              <a:t> Segmentation Using </a:t>
            </a: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r>
              <a:rPr lang="en-US" sz="3200" dirty="0" smtClean="0">
                <a:latin typeface="Times New Roman" pitchFamily="18" charset="0"/>
                <a:cs typeface="Times New Roman" pitchFamily="18" charset="0"/>
              </a:rPr>
              <a:t>Deep </a:t>
            </a:r>
            <a:r>
              <a:rPr lang="en-US" sz="3200" dirty="0">
                <a:latin typeface="Times New Roman" pitchFamily="18" charset="0"/>
                <a:cs typeface="Times New Roman" pitchFamily="18" charset="0"/>
              </a:rPr>
              <a:t>Learning Models</a:t>
            </a:r>
          </a:p>
        </p:txBody>
      </p:sp>
      <p:sp>
        <p:nvSpPr>
          <p:cNvPr id="3" name="Subtitle 2"/>
          <p:cNvSpPr>
            <a:spLocks noGrp="1"/>
          </p:cNvSpPr>
          <p:nvPr>
            <p:ph type="subTitle" idx="1"/>
          </p:nvPr>
        </p:nvSpPr>
        <p:spPr>
          <a:xfrm>
            <a:off x="603109" y="3753427"/>
            <a:ext cx="9117372" cy="1752600"/>
          </a:xfrm>
        </p:spPr>
        <p:txBody>
          <a:bodyPr>
            <a:normAutofit/>
          </a:bodyPr>
          <a:lstStyle/>
          <a:p>
            <a:r>
              <a:rPr lang="en-US" sz="2800" dirty="0">
                <a:solidFill>
                  <a:schemeClr val="tx1"/>
                </a:solidFill>
                <a:latin typeface="Times New Roman" pitchFamily="18" charset="0"/>
                <a:cs typeface="Times New Roman" pitchFamily="18" charset="0"/>
              </a:rPr>
              <a:t>Presented by</a:t>
            </a:r>
          </a:p>
          <a:p>
            <a:r>
              <a:rPr lang="en-US" sz="2400" b="1" dirty="0" err="1">
                <a:solidFill>
                  <a:srgbClr val="7030A0"/>
                </a:solidFill>
                <a:latin typeface="Times New Roman" pitchFamily="18" charset="0"/>
                <a:cs typeface="Times New Roman" pitchFamily="18" charset="0"/>
              </a:rPr>
              <a:t>Ch.Vatsalya</a:t>
            </a:r>
            <a:r>
              <a:rPr lang="en-US" sz="2400" b="1" dirty="0">
                <a:solidFill>
                  <a:srgbClr val="7030A0"/>
                </a:solidFill>
                <a:latin typeface="Times New Roman" pitchFamily="18" charset="0"/>
                <a:cs typeface="Times New Roman" pitchFamily="18" charset="0"/>
              </a:rPr>
              <a:t> </a:t>
            </a:r>
            <a:r>
              <a:rPr lang="en-US" sz="2400" b="1" dirty="0" err="1" smtClean="0">
                <a:solidFill>
                  <a:srgbClr val="7030A0"/>
                </a:solidFill>
                <a:latin typeface="Times New Roman" pitchFamily="18" charset="0"/>
                <a:cs typeface="Times New Roman" pitchFamily="18" charset="0"/>
              </a:rPr>
              <a:t>Gayatri</a:t>
            </a:r>
            <a:r>
              <a:rPr lang="en-US" sz="2400" b="1" dirty="0" smtClean="0">
                <a:solidFill>
                  <a:srgbClr val="7030A0"/>
                </a:solidFill>
                <a:latin typeface="Times New Roman" pitchFamily="18" charset="0"/>
                <a:cs typeface="Times New Roman" pitchFamily="18" charset="0"/>
              </a:rPr>
              <a:t> (</a:t>
            </a:r>
            <a:r>
              <a:rPr lang="en-US" sz="2400" b="1" dirty="0">
                <a:solidFill>
                  <a:srgbClr val="7030A0"/>
                </a:solidFill>
                <a:latin typeface="Times New Roman" pitchFamily="18" charset="0"/>
                <a:cs typeface="Times New Roman" pitchFamily="18" charset="0"/>
              </a:rPr>
              <a:t>228W1A1211)</a:t>
            </a:r>
            <a:endParaRPr lang="en-US" sz="2400" dirty="0">
              <a:solidFill>
                <a:schemeClr val="tx1"/>
              </a:solidFill>
              <a:latin typeface="Times New Roman" pitchFamily="18" charset="0"/>
              <a:cs typeface="Times New Roman" pitchFamily="18" charset="0"/>
            </a:endParaRPr>
          </a:p>
          <a:p>
            <a:r>
              <a:rPr lang="en-US" sz="2400" b="1" dirty="0" err="1" smtClean="0">
                <a:solidFill>
                  <a:srgbClr val="7030A0"/>
                </a:solidFill>
                <a:latin typeface="Times New Roman" pitchFamily="18" charset="0"/>
                <a:cs typeface="Times New Roman" pitchFamily="18" charset="0"/>
              </a:rPr>
              <a:t>N.Pallavi</a:t>
            </a:r>
            <a:r>
              <a:rPr lang="en-US" sz="2400" b="1" dirty="0" smtClean="0">
                <a:solidFill>
                  <a:srgbClr val="7030A0"/>
                </a:solidFill>
                <a:latin typeface="Times New Roman" pitchFamily="18" charset="0"/>
                <a:cs typeface="Times New Roman" pitchFamily="18" charset="0"/>
              </a:rPr>
              <a:t> (</a:t>
            </a:r>
            <a:r>
              <a:rPr lang="en-US" sz="2400" b="1" dirty="0">
                <a:solidFill>
                  <a:srgbClr val="7030A0"/>
                </a:solidFill>
                <a:latin typeface="Times New Roman" pitchFamily="18" charset="0"/>
                <a:cs typeface="Times New Roman" pitchFamily="18" charset="0"/>
              </a:rPr>
              <a:t>228W1A1242)</a:t>
            </a:r>
          </a:p>
          <a:p>
            <a:endParaRPr lang="en-US" sz="2800" b="1" dirty="0">
              <a:solidFill>
                <a:srgbClr val="7030A0"/>
              </a:solidFill>
              <a:cs typeface="AngsanaUPC" panose="02020603050405020304" pitchFamily="18" charset="-34"/>
            </a:endParaRPr>
          </a:p>
          <a:p>
            <a:endParaRPr lang="en-US" sz="2800"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12" y="186601"/>
            <a:ext cx="178938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62401" y="23156"/>
            <a:ext cx="1194909"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150042" y="267377"/>
            <a:ext cx="6135053" cy="758857"/>
          </a:xfrm>
          <a:prstGeom prst="rect">
            <a:avLst/>
          </a:prstGeom>
          <a:noFill/>
        </p:spPr>
        <p:txBody>
          <a:bodyPr wrap="square" lIns="19998" tIns="9999" rIns="19998" bIns="9999" rtlCol="0">
            <a:spAutoFit/>
          </a:bodyPr>
          <a:lstStyle/>
          <a:p>
            <a:pPr algn="ctr"/>
            <a:r>
              <a:rPr lang="en-IN" sz="2400" b="1" dirty="0">
                <a:solidFill>
                  <a:srgbClr val="0000FF"/>
                </a:solidFill>
                <a:cs typeface="Times New Roman" pitchFamily="18" charset="0"/>
              </a:rPr>
              <a:t>Department of Information Technology</a:t>
            </a:r>
          </a:p>
          <a:p>
            <a:pPr algn="ctr"/>
            <a:r>
              <a:rPr lang="en-IN" sz="2400" b="1" dirty="0">
                <a:solidFill>
                  <a:srgbClr val="FF0000"/>
                </a:solidFill>
                <a:cs typeface="Times New Roman" pitchFamily="18" charset="0"/>
              </a:rPr>
              <a:t>V R Siddhartha Engineering College </a:t>
            </a:r>
          </a:p>
        </p:txBody>
      </p:sp>
      <p:sp>
        <p:nvSpPr>
          <p:cNvPr id="8" name="TextBox 7"/>
          <p:cNvSpPr txBox="1"/>
          <p:nvPr/>
        </p:nvSpPr>
        <p:spPr>
          <a:xfrm>
            <a:off x="2222081" y="2822481"/>
            <a:ext cx="5879426" cy="707886"/>
          </a:xfrm>
          <a:prstGeom prst="rect">
            <a:avLst/>
          </a:prstGeom>
          <a:noFill/>
        </p:spPr>
        <p:txBody>
          <a:bodyPr wrap="square" rtlCol="0">
            <a:spAutoFit/>
          </a:bodyPr>
          <a:lstStyle/>
          <a:p>
            <a:pPr algn="ctr"/>
            <a:r>
              <a:rPr lang="en-US" sz="2000" b="1" dirty="0">
                <a:solidFill>
                  <a:srgbClr val="FF0000"/>
                </a:solidFill>
                <a:latin typeface="Times New Roman" pitchFamily="18" charset="0"/>
                <a:cs typeface="Times New Roman" pitchFamily="18" charset="0"/>
              </a:rPr>
              <a:t>B.Tech in Information Technology</a:t>
            </a:r>
          </a:p>
          <a:p>
            <a:pPr algn="ctr"/>
            <a:r>
              <a:rPr lang="en-US" sz="2000" b="1" dirty="0" smtClean="0">
                <a:solidFill>
                  <a:srgbClr val="BF11A6"/>
                </a:solidFill>
                <a:latin typeface="Times New Roman" pitchFamily="18" charset="0"/>
                <a:cs typeface="Times New Roman" pitchFamily="18" charset="0"/>
              </a:rPr>
              <a:t>MAJOR  </a:t>
            </a:r>
            <a:r>
              <a:rPr lang="en-US" sz="2000" b="1" dirty="0">
                <a:solidFill>
                  <a:srgbClr val="BF11A6"/>
                </a:solidFill>
                <a:latin typeface="Times New Roman" pitchFamily="18" charset="0"/>
                <a:cs typeface="Times New Roman" pitchFamily="18" charset="0"/>
              </a:rPr>
              <a:t>Project Review Presentation</a:t>
            </a:r>
          </a:p>
        </p:txBody>
      </p:sp>
      <p:sp>
        <p:nvSpPr>
          <p:cNvPr id="9" name="TextBox 8"/>
          <p:cNvSpPr txBox="1"/>
          <p:nvPr/>
        </p:nvSpPr>
        <p:spPr>
          <a:xfrm>
            <a:off x="2150045" y="2376951"/>
            <a:ext cx="5689191" cy="384721"/>
          </a:xfrm>
          <a:prstGeom prst="rect">
            <a:avLst/>
          </a:prstGeom>
          <a:noFill/>
        </p:spPr>
        <p:txBody>
          <a:bodyPr wrap="square" rtlCol="0">
            <a:spAutoFit/>
          </a:bodyPr>
          <a:lstStyle/>
          <a:p>
            <a:pPr algn="ctr"/>
            <a:r>
              <a:rPr lang="en-US" sz="1900" b="1" dirty="0">
                <a:solidFill>
                  <a:srgbClr val="00B050"/>
                </a:solidFill>
                <a:latin typeface="Times New Roman" pitchFamily="18" charset="0"/>
                <a:cs typeface="Times New Roman" pitchFamily="18" charset="0"/>
              </a:rPr>
              <a:t> Deep Learning</a:t>
            </a:r>
          </a:p>
        </p:txBody>
      </p:sp>
      <p:sp>
        <p:nvSpPr>
          <p:cNvPr id="10" name="Date Placeholder 9"/>
          <p:cNvSpPr>
            <a:spLocks noGrp="1"/>
          </p:cNvSpPr>
          <p:nvPr>
            <p:ph type="dt" sz="half" idx="10"/>
          </p:nvPr>
        </p:nvSpPr>
        <p:spPr/>
        <p:txBody>
          <a:bodyPr/>
          <a:lstStyle/>
          <a:p>
            <a:fld id="{12D83BDF-1171-4B6E-B360-F8FAFB0EEC24}" type="datetime3">
              <a:rPr lang="en-US" smtClean="0"/>
              <a:pPr/>
              <a:t>20 April 2026</a:t>
            </a:fld>
            <a:endParaRPr lang="en-US" dirty="0"/>
          </a:p>
        </p:txBody>
      </p:sp>
      <p:sp>
        <p:nvSpPr>
          <p:cNvPr id="11" name="Rectangle 10"/>
          <p:cNvSpPr/>
          <p:nvPr/>
        </p:nvSpPr>
        <p:spPr>
          <a:xfrm>
            <a:off x="3171375" y="5486404"/>
            <a:ext cx="4143389" cy="984885"/>
          </a:xfrm>
          <a:prstGeom prst="rect">
            <a:avLst/>
          </a:prstGeom>
        </p:spPr>
        <p:txBody>
          <a:bodyPr wrap="square">
            <a:spAutoFit/>
          </a:bodyPr>
          <a:lstStyle/>
          <a:p>
            <a:pPr algn="ctr"/>
            <a:r>
              <a:rPr lang="en-US" dirty="0">
                <a:latin typeface="Times New Roman" pitchFamily="18" charset="0"/>
                <a:cs typeface="Times New Roman" pitchFamily="18" charset="0"/>
              </a:rPr>
              <a:t>Under the guidance of </a:t>
            </a:r>
            <a:endParaRPr lang="en-US" sz="16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T. Sujith Kumar, </a:t>
            </a:r>
            <a:r>
              <a:rPr lang="en-US" sz="2000" b="1" dirty="0" err="1">
                <a:solidFill>
                  <a:srgbClr val="FF0000"/>
                </a:solidFill>
                <a:latin typeface="Times New Roman" pitchFamily="18" charset="0"/>
                <a:cs typeface="Times New Roman" pitchFamily="18" charset="0"/>
              </a:rPr>
              <a:t>Asst.Professor</a:t>
            </a:r>
            <a:endParaRPr lang="en-US" sz="2000" b="1" dirty="0">
              <a:solidFill>
                <a:srgbClr val="FF0000"/>
              </a:solidFill>
              <a:latin typeface="Times New Roman" pitchFamily="18" charset="0"/>
              <a:cs typeface="Times New Roman" pitchFamily="18" charset="0"/>
            </a:endParaRPr>
          </a:p>
          <a:p>
            <a:pPr algn="ctr"/>
            <a:r>
              <a:rPr lang="en-US" sz="2000" b="1" dirty="0">
                <a:solidFill>
                  <a:srgbClr val="FF0000"/>
                </a:solidFill>
                <a:latin typeface="Times New Roman" pitchFamily="18" charset="0"/>
                <a:cs typeface="Times New Roman" pitchFamily="18" charset="0"/>
              </a:rPr>
              <a:t> </a:t>
            </a:r>
            <a:endParaRPr lang="en-US"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543250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59777" y="469783"/>
            <a:ext cx="1741181" cy="523220"/>
          </a:xfrm>
          <a:prstGeom prst="rect">
            <a:avLst/>
          </a:prstGeom>
          <a:noFill/>
        </p:spPr>
        <p:txBody>
          <a:bodyPr wrap="none" rtlCol="0">
            <a:spAutoFit/>
          </a:bodyPr>
          <a:lstStyle/>
          <a:p>
            <a:pPr algn="ctr"/>
            <a:r>
              <a:rPr lang="en-US" sz="2800" b="1" dirty="0">
                <a:latin typeface="Times New Roman" panose="02020603050405020304" pitchFamily="18" charset="0"/>
                <a:cs typeface="Times New Roman" panose="02020603050405020304" pitchFamily="18" charset="0"/>
              </a:rPr>
              <a:t>AGENDA</a:t>
            </a:r>
          </a:p>
        </p:txBody>
      </p:sp>
      <p:sp>
        <p:nvSpPr>
          <p:cNvPr id="3" name="TextBox 2"/>
          <p:cNvSpPr txBox="1"/>
          <p:nvPr/>
        </p:nvSpPr>
        <p:spPr>
          <a:xfrm>
            <a:off x="535943" y="1412776"/>
            <a:ext cx="9407888" cy="4893647"/>
          </a:xfrm>
          <a:prstGeom prst="rect">
            <a:avLst/>
          </a:prstGeom>
          <a:noFill/>
        </p:spPr>
        <p:txBody>
          <a:bodyPr wrap="square" rtlCol="0">
            <a:spAutoFit/>
          </a:bodyPr>
          <a:lstStyle/>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Introduction and </a:t>
            </a:r>
            <a:r>
              <a:rPr lang="en-US" sz="2400" dirty="0">
                <a:latin typeface="Times New Roman" panose="02020603050405020304" pitchFamily="18" charset="0"/>
                <a:cs typeface="Times New Roman" panose="02020603050405020304" pitchFamily="18" charset="0"/>
              </a:rPr>
              <a:t>Problem Statement</a:t>
            </a:r>
          </a:p>
          <a:p>
            <a:pPr marL="457200" indent="-457200" algn="just">
              <a:buFont typeface="Arial" pitchFamily="34" charset="0"/>
              <a:buChar char="•"/>
            </a:pPr>
            <a:r>
              <a:rPr lang="en-US" sz="2400" dirty="0">
                <a:latin typeface="Times New Roman" panose="02020603050405020304" pitchFamily="18" charset="0"/>
                <a:cs typeface="Times New Roman" panose="02020603050405020304" pitchFamily="18" charset="0"/>
              </a:rPr>
              <a:t>Objectives and Outcomes</a:t>
            </a:r>
          </a:p>
          <a:p>
            <a:pPr marL="457200" indent="-457200" algn="just">
              <a:buFont typeface="Arial" pitchFamily="34" charset="0"/>
              <a:buChar char="•"/>
            </a:pPr>
            <a:r>
              <a:rPr lang="en-US" sz="2400" dirty="0">
                <a:latin typeface="Times New Roman" panose="02020603050405020304" pitchFamily="18" charset="0"/>
                <a:cs typeface="Times New Roman" panose="02020603050405020304" pitchFamily="18" charset="0"/>
              </a:rPr>
              <a:t>Literature review and Summary</a:t>
            </a:r>
          </a:p>
          <a:p>
            <a:pPr marL="457200" indent="-457200" algn="just">
              <a:buFont typeface="Arial" pitchFamily="34" charset="0"/>
              <a:buChar char="•"/>
            </a:pPr>
            <a:r>
              <a:rPr lang="en-US" sz="2400" dirty="0">
                <a:latin typeface="Times New Roman" panose="02020603050405020304" pitchFamily="18" charset="0"/>
                <a:cs typeface="Times New Roman" panose="02020603050405020304" pitchFamily="18" charset="0"/>
              </a:rPr>
              <a:t>Datasets and Requirements</a:t>
            </a:r>
          </a:p>
          <a:p>
            <a:pPr marL="457200" indent="-457200" algn="just">
              <a:buFont typeface="Arial" pitchFamily="34" charset="0"/>
              <a:buChar char="•"/>
            </a:pPr>
            <a:r>
              <a:rPr lang="en-US" sz="2400" dirty="0">
                <a:latin typeface="Times New Roman" panose="02020603050405020304" pitchFamily="18" charset="0"/>
                <a:cs typeface="Times New Roman" panose="02020603050405020304" pitchFamily="18" charset="0"/>
              </a:rPr>
              <a:t>Algorithms used in the project</a:t>
            </a:r>
          </a:p>
          <a:p>
            <a:pPr marL="457200" indent="-457200" algn="just">
              <a:buFont typeface="Arial" pitchFamily="34" charset="0"/>
              <a:buChar char="•"/>
            </a:pPr>
            <a:r>
              <a:rPr lang="en-US" sz="2400" dirty="0">
                <a:latin typeface="Times New Roman" panose="02020603050405020304" pitchFamily="18" charset="0"/>
                <a:cs typeface="Times New Roman" panose="02020603050405020304" pitchFamily="18" charset="0"/>
              </a:rPr>
              <a:t>Architecture </a:t>
            </a:r>
            <a:r>
              <a:rPr lang="en-US" sz="2400" dirty="0" smtClean="0">
                <a:latin typeface="Times New Roman" panose="02020603050405020304" pitchFamily="18" charset="0"/>
                <a:cs typeface="Times New Roman" panose="02020603050405020304" pitchFamily="18" charset="0"/>
              </a:rPr>
              <a:t>diagram</a:t>
            </a:r>
          </a:p>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Implementation Steps and Execution</a:t>
            </a:r>
          </a:p>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Results Obtained</a:t>
            </a:r>
            <a:endParaRPr lang="en-US" sz="2400" dirty="0">
              <a:latin typeface="Times New Roman" panose="02020603050405020304" pitchFamily="18" charset="0"/>
              <a:cs typeface="Times New Roman" panose="02020603050405020304" pitchFamily="18" charset="0"/>
            </a:endParaRPr>
          </a:p>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Results Analysis &amp; Observations</a:t>
            </a:r>
          </a:p>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Conclusion &amp; Future Work</a:t>
            </a:r>
          </a:p>
          <a:p>
            <a:pPr marL="457200" indent="-457200" algn="just">
              <a:buFont typeface="Arial" pitchFamily="34" charset="0"/>
              <a:buChar char="•"/>
            </a:pPr>
            <a:r>
              <a:rPr lang="en-US" sz="2400" dirty="0" smtClean="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pPr marL="457200" indent="-457200">
              <a:buFont typeface="Arial"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 typeface="Arial"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688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258" y="188640"/>
            <a:ext cx="9202579" cy="576064"/>
          </a:xfrm>
        </p:spPr>
        <p:txBody>
          <a:bodyPr>
            <a:noAutofit/>
          </a:bodyPr>
          <a:lstStyle/>
          <a:p>
            <a:r>
              <a:rPr lang="en-IN" sz="2800" b="1"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511254" y="908720"/>
            <a:ext cx="9513098" cy="5760640"/>
          </a:xfrm>
        </p:spPr>
        <p:txBody>
          <a:bodyPr>
            <a:normAutofit/>
          </a:bodyPr>
          <a:lstStyle/>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Landslides are one of the most destructive natural disasters, causing loss of life, infrastructure damage, and environmental imbalance.</a:t>
            </a:r>
          </a:p>
          <a:p>
            <a:r>
              <a:rPr lang="en-US" sz="2200" dirty="0">
                <a:latin typeface="Times New Roman" pitchFamily="18" charset="0"/>
                <a:cs typeface="Times New Roman" pitchFamily="18" charset="0"/>
              </a:rPr>
              <a:t>Early detection and accurate mapping of landslide-prone areas are critical for risk management and disaster mitigation.</a:t>
            </a:r>
          </a:p>
          <a:p>
            <a:r>
              <a:rPr lang="en-US" sz="2200" dirty="0">
                <a:latin typeface="Times New Roman" pitchFamily="18" charset="0"/>
                <a:cs typeface="Times New Roman" pitchFamily="18" charset="0"/>
              </a:rPr>
              <a:t>Traditional image analysis techniques often fail to precisely identify landslide boundaries due to spectral similarity, noise, and complex terrain conditions</a:t>
            </a:r>
            <a:r>
              <a:rPr lang="en-US" sz="2200" dirty="0" smtClean="0">
                <a:latin typeface="Times New Roman" pitchFamily="18" charset="0"/>
                <a:cs typeface="Times New Roman" pitchFamily="18" charset="0"/>
              </a:rPr>
              <a:t>.</a:t>
            </a:r>
          </a:p>
          <a:p>
            <a:r>
              <a:rPr lang="en-US" sz="2200" dirty="0" smtClean="0">
                <a:latin typeface="Times New Roman" pitchFamily="18" charset="0"/>
                <a:cs typeface="Times New Roman" pitchFamily="18" charset="0"/>
              </a:rPr>
              <a:t>To address this, our project uses transformer based semantic segmentation models  to automatically detect and segment landslide regions from satellite imagery.</a:t>
            </a:r>
          </a:p>
          <a:p>
            <a:r>
              <a:rPr lang="en-US" sz="2200" dirty="0" smtClean="0">
                <a:latin typeface="Times New Roman" pitchFamily="18" charset="0"/>
                <a:cs typeface="Times New Roman" pitchFamily="18" charset="0"/>
              </a:rPr>
              <a:t>Transformer-based </a:t>
            </a:r>
            <a:r>
              <a:rPr lang="en-US" sz="2200" dirty="0">
                <a:latin typeface="Times New Roman" pitchFamily="18" charset="0"/>
                <a:cs typeface="Times New Roman" pitchFamily="18" charset="0"/>
              </a:rPr>
              <a:t>models </a:t>
            </a:r>
            <a:r>
              <a:rPr lang="en-US" sz="2200" dirty="0" smtClean="0">
                <a:latin typeface="Times New Roman" pitchFamily="18" charset="0"/>
                <a:cs typeface="Times New Roman" pitchFamily="18" charset="0"/>
              </a:rPr>
              <a:t>overcome </a:t>
            </a:r>
            <a:r>
              <a:rPr lang="en-US" sz="2200" dirty="0">
                <a:latin typeface="Times New Roman" pitchFamily="18" charset="0"/>
                <a:cs typeface="Times New Roman" pitchFamily="18" charset="0"/>
              </a:rPr>
              <a:t>these limitations by capturing both local and global features, enabling more accurate and efficient landslide segmentation.</a:t>
            </a:r>
          </a:p>
          <a:p>
            <a:pPr marL="0" indent="0">
              <a:buNone/>
            </a:pP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894915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2301" y="260648"/>
            <a:ext cx="9513098" cy="6336704"/>
          </a:xfrm>
        </p:spPr>
        <p:txBody>
          <a:bodyPr>
            <a:normAutofit fontScale="92500"/>
          </a:bodyPr>
          <a:lstStyle/>
          <a:p>
            <a:pPr marL="0" indent="0" algn="just">
              <a:buNone/>
            </a:pPr>
            <a:r>
              <a:rPr lang="en-IN" sz="2600" b="1" dirty="0">
                <a:latin typeface="Times New Roman" pitchFamily="18" charset="0"/>
                <a:cs typeface="Times New Roman" pitchFamily="18" charset="0"/>
              </a:rPr>
              <a:t>		</a:t>
            </a:r>
            <a:r>
              <a:rPr lang="en-IN" sz="2600" b="1" dirty="0" smtClean="0">
                <a:latin typeface="Times New Roman" pitchFamily="18" charset="0"/>
                <a:cs typeface="Times New Roman" pitchFamily="18" charset="0"/>
              </a:rPr>
              <a:t>          </a:t>
            </a:r>
            <a:r>
              <a:rPr lang="en-IN" sz="3000" b="1" dirty="0" smtClean="0">
                <a:latin typeface="Times New Roman" pitchFamily="18" charset="0"/>
                <a:cs typeface="Times New Roman" pitchFamily="18" charset="0"/>
              </a:rPr>
              <a:t>PROBLEM </a:t>
            </a:r>
            <a:r>
              <a:rPr lang="en-IN" sz="3000" b="1" dirty="0">
                <a:latin typeface="Times New Roman" pitchFamily="18" charset="0"/>
                <a:cs typeface="Times New Roman" pitchFamily="18" charset="0"/>
              </a:rPr>
              <a:t>STATEMENT</a:t>
            </a:r>
          </a:p>
          <a:p>
            <a:pPr marL="0" indent="0" algn="just">
              <a:buNone/>
            </a:pPr>
            <a:endParaRPr lang="en-US" sz="26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Landslides are frequent in hilly regions and cause major loss of life, property, and infrastructure. Manual mapping of landslide areas using satellite images is slow, subjective, and error-prone and complex terrain and varying image quality make accurate detection difficult.</a:t>
            </a:r>
          </a:p>
          <a:p>
            <a:pPr marL="0" indent="0" algn="just">
              <a:buNone/>
            </a:pP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Traditional models struggle with low recall and poor boundary segmentation. Need for automated, scalable, and reliable segmentation of landslide-prone regions.</a:t>
            </a:r>
          </a:p>
          <a:p>
            <a:pPr marL="0" indent="0" algn="just">
              <a:buNone/>
            </a:pP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Delayed or inaccurate detection increases </a:t>
            </a:r>
            <a:r>
              <a:rPr lang="en-US" sz="2000" dirty="0"/>
              <a:t>Higher risk to life, property, and infrastructure. </a:t>
            </a:r>
            <a:r>
              <a:rPr lang="en-US" sz="2200" dirty="0">
                <a:latin typeface="Times New Roman" pitchFamily="18" charset="0"/>
                <a:cs typeface="Times New Roman" pitchFamily="18" charset="0"/>
              </a:rPr>
              <a:t>A robust solution can support early warning systems and improve disaster management.</a:t>
            </a:r>
          </a:p>
          <a:p>
            <a:pPr marL="0" indent="0" algn="just">
              <a:buNone/>
            </a:pP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Use satellite imagery dataset with preprocessing to enhance feature visibility. Train and compare transformer based semantic segmentation models for </a:t>
            </a:r>
            <a:r>
              <a:rPr lang="en-US" sz="2200" dirty="0" smtClean="0">
                <a:latin typeface="Times New Roman" pitchFamily="18" charset="0"/>
                <a:cs typeface="Times New Roman" pitchFamily="18" charset="0"/>
              </a:rPr>
              <a:t>segmentation and </a:t>
            </a:r>
            <a:r>
              <a:rPr lang="en-US" sz="2200" dirty="0">
                <a:latin typeface="Times New Roman" pitchFamily="18" charset="0"/>
                <a:cs typeface="Times New Roman" pitchFamily="18" charset="0"/>
              </a:rPr>
              <a:t>estimate the affected area in square </a:t>
            </a:r>
            <a:r>
              <a:rPr lang="en-US" sz="2200" dirty="0" smtClean="0">
                <a:latin typeface="Times New Roman" pitchFamily="18" charset="0"/>
                <a:cs typeface="Times New Roman" pitchFamily="18" charset="0"/>
              </a:rPr>
              <a:t>kilometers and calculate the severity of the landslide region.</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477008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2024" y="548680"/>
            <a:ext cx="4517856" cy="639762"/>
          </a:xfrm>
        </p:spPr>
        <p:txBody>
          <a:bodyPr/>
          <a:lstStyle/>
          <a:p>
            <a:r>
              <a:rPr lang="en-IN" dirty="0">
                <a:latin typeface="Times New Roman" pitchFamily="18" charset="0"/>
                <a:cs typeface="Times New Roman" pitchFamily="18" charset="0"/>
              </a:rPr>
              <a:t>Objectives</a:t>
            </a:r>
          </a:p>
        </p:txBody>
      </p:sp>
      <p:sp>
        <p:nvSpPr>
          <p:cNvPr id="4" name="Content Placeholder 3"/>
          <p:cNvSpPr>
            <a:spLocks noGrp="1"/>
          </p:cNvSpPr>
          <p:nvPr>
            <p:ph sz="half" idx="2"/>
          </p:nvPr>
        </p:nvSpPr>
        <p:spPr>
          <a:xfrm>
            <a:off x="386464" y="1324726"/>
            <a:ext cx="4517856" cy="5112568"/>
          </a:xfrm>
        </p:spPr>
        <p:txBody>
          <a:bodyPr>
            <a:normAutofit/>
          </a:bodyPr>
          <a:lstStyle/>
          <a:p>
            <a:pPr lvl="0" algn="just"/>
            <a:r>
              <a:rPr lang="en-US" sz="2000" dirty="0">
                <a:latin typeface="Times New Roman" pitchFamily="18" charset="0"/>
                <a:cs typeface="Times New Roman" pitchFamily="18" charset="0"/>
              </a:rPr>
              <a:t>Apply </a:t>
            </a:r>
            <a:r>
              <a:rPr lang="en-US" sz="2000" dirty="0" smtClean="0">
                <a:latin typeface="Times New Roman" pitchFamily="18" charset="0"/>
                <a:cs typeface="Times New Roman" pitchFamily="18" charset="0"/>
              </a:rPr>
              <a:t>transformer-based architectures , </a:t>
            </a:r>
            <a:r>
              <a:rPr lang="en-US" sz="2000" dirty="0">
                <a:latin typeface="Times New Roman" pitchFamily="18" charset="0"/>
                <a:cs typeface="Times New Roman" pitchFamily="18" charset="0"/>
              </a:rPr>
              <a:t>namely </a:t>
            </a:r>
            <a:r>
              <a:rPr lang="en-US" sz="2000" dirty="0" err="1">
                <a:latin typeface="Times New Roman" pitchFamily="18" charset="0"/>
                <a:cs typeface="Times New Roman" pitchFamily="18" charset="0"/>
              </a:rPr>
              <a:t>SegFormer</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MobileViT</a:t>
            </a:r>
            <a:r>
              <a:rPr lang="en-US" sz="2000" dirty="0">
                <a:latin typeface="Times New Roman" pitchFamily="18" charset="0"/>
                <a:cs typeface="Times New Roman" pitchFamily="18" charset="0"/>
              </a:rPr>
              <a:t>, to detect landslides precisely and pixel-wisely.</a:t>
            </a:r>
            <a:endParaRPr lang="en-IN"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Apply and evaluate transformer-based </a:t>
            </a:r>
            <a:r>
              <a:rPr lang="en-US" sz="2000" dirty="0" smtClean="0">
                <a:latin typeface="Times New Roman" pitchFamily="18" charset="0"/>
                <a:cs typeface="Times New Roman" pitchFamily="18" charset="0"/>
              </a:rPr>
              <a:t>to </a:t>
            </a:r>
            <a:r>
              <a:rPr lang="en-US" sz="2000" dirty="0">
                <a:latin typeface="Times New Roman" pitchFamily="18" charset="0"/>
                <a:cs typeface="Times New Roman" pitchFamily="18" charset="0"/>
              </a:rPr>
              <a:t>detect landslides on a pixel-by-pixel basis correctly</a:t>
            </a:r>
            <a:r>
              <a:rPr lang="en-US" sz="2000" dirty="0" smtClean="0">
                <a:latin typeface="Times New Roman" pitchFamily="18" charset="0"/>
                <a:cs typeface="Times New Roman" pitchFamily="18" charset="0"/>
              </a:rPr>
              <a:t>.</a:t>
            </a:r>
          </a:p>
          <a:p>
            <a:pPr algn="just"/>
            <a:r>
              <a:rPr lang="en-IN" sz="2000" dirty="0" smtClean="0">
                <a:latin typeface="Times New Roman" pitchFamily="18" charset="0"/>
                <a:cs typeface="Times New Roman" pitchFamily="18" charset="0"/>
              </a:rPr>
              <a:t>Train </a:t>
            </a:r>
            <a:r>
              <a:rPr lang="en-IN" sz="2000" dirty="0">
                <a:latin typeface="Times New Roman" pitchFamily="18" charset="0"/>
                <a:cs typeface="Times New Roman" pitchFamily="18" charset="0"/>
              </a:rPr>
              <a:t>and </a:t>
            </a:r>
            <a:r>
              <a:rPr lang="en-IN" sz="2000" dirty="0" smtClean="0">
                <a:latin typeface="Times New Roman" pitchFamily="18" charset="0"/>
                <a:cs typeface="Times New Roman" pitchFamily="18" charset="0"/>
              </a:rPr>
              <a:t>models </a:t>
            </a:r>
            <a:r>
              <a:rPr lang="en-IN" sz="2000" dirty="0">
                <a:latin typeface="Times New Roman" pitchFamily="18" charset="0"/>
                <a:cs typeface="Times New Roman" pitchFamily="18" charset="0"/>
              </a:rPr>
              <a:t>to improve recall, accuracy, and boundary detection. </a:t>
            </a:r>
          </a:p>
        </p:txBody>
      </p:sp>
      <p:sp>
        <p:nvSpPr>
          <p:cNvPr id="5" name="Text Placeholder 4"/>
          <p:cNvSpPr>
            <a:spLocks noGrp="1"/>
          </p:cNvSpPr>
          <p:nvPr>
            <p:ph type="body" sz="quarter" idx="3"/>
          </p:nvPr>
        </p:nvSpPr>
        <p:spPr>
          <a:xfrm>
            <a:off x="5273589" y="548680"/>
            <a:ext cx="4519631" cy="639762"/>
          </a:xfrm>
        </p:spPr>
        <p:txBody>
          <a:bodyPr/>
          <a:lstStyle/>
          <a:p>
            <a:r>
              <a:rPr lang="en-IN" dirty="0">
                <a:latin typeface="Times New Roman" pitchFamily="18" charset="0"/>
                <a:cs typeface="Times New Roman" pitchFamily="18" charset="0"/>
              </a:rPr>
              <a:t>Outcomes</a:t>
            </a:r>
          </a:p>
        </p:txBody>
      </p:sp>
      <p:sp>
        <p:nvSpPr>
          <p:cNvPr id="6" name="Content Placeholder 5"/>
          <p:cNvSpPr>
            <a:spLocks noGrp="1"/>
          </p:cNvSpPr>
          <p:nvPr>
            <p:ph sz="quarter" idx="4"/>
          </p:nvPr>
        </p:nvSpPr>
        <p:spPr>
          <a:xfrm>
            <a:off x="5184552" y="1340768"/>
            <a:ext cx="4752528" cy="5616624"/>
          </a:xfrm>
        </p:spPr>
        <p:txBody>
          <a:bodyPr>
            <a:noAutofit/>
          </a:bodyPr>
          <a:lstStyle/>
          <a:p>
            <a:pPr algn="just"/>
            <a:r>
              <a:rPr lang="en-US" sz="2000" dirty="0">
                <a:latin typeface="Times New Roman" pitchFamily="18" charset="0"/>
                <a:cs typeface="Times New Roman" pitchFamily="18" charset="0"/>
              </a:rPr>
              <a:t>Accurate segmentation masks highlighting landslide-prone regions from satellite images.</a:t>
            </a:r>
          </a:p>
          <a:p>
            <a:pPr algn="just"/>
            <a:r>
              <a:rPr lang="en-US" sz="2000" dirty="0" smtClean="0">
                <a:latin typeface="Times New Roman" pitchFamily="18" charset="0"/>
                <a:cs typeface="Times New Roman" pitchFamily="18" charset="0"/>
              </a:rPr>
              <a:t>Estimate the landslide area, classifies severity levels.</a:t>
            </a:r>
            <a:endParaRPr lang="en-US"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decision-support tool to aid authorities in early warning systems and disaster risk reduction.</a:t>
            </a:r>
          </a:p>
        </p:txBody>
      </p:sp>
    </p:spTree>
    <p:extLst>
      <p:ext uri="{BB962C8B-B14F-4D97-AF65-F5344CB8AC3E}">
        <p14:creationId xmlns:p14="http://schemas.microsoft.com/office/powerpoint/2010/main" val="421031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849" y="-10160"/>
            <a:ext cx="8819138" cy="570015"/>
          </a:xfrm>
        </p:spPr>
        <p:txBody>
          <a:bodyPr>
            <a:normAutofit/>
          </a:bodyPr>
          <a:lstStyle/>
          <a:p>
            <a:r>
              <a:rPr lang="en-IN" sz="2800" b="1" dirty="0" smtClean="0">
                <a:latin typeface="Times New Roman" pitchFamily="18" charset="0"/>
                <a:cs typeface="Times New Roman" pitchFamily="18" charset="0"/>
              </a:rPr>
              <a:t>           LITERATURE REVIEW</a:t>
            </a:r>
            <a:endParaRPr lang="en-IN" sz="2800" b="1" dirty="0">
              <a:latin typeface="Times New Roman" pitchFamily="18" charset="0"/>
              <a:cs typeface="Times New Roman"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77052077"/>
              </p:ext>
            </p:extLst>
          </p:nvPr>
        </p:nvGraphicFramePr>
        <p:xfrm>
          <a:off x="135285" y="443056"/>
          <a:ext cx="9977970" cy="6298312"/>
        </p:xfrm>
        <a:graphic>
          <a:graphicData uri="http://schemas.openxmlformats.org/drawingml/2006/table">
            <a:tbl>
              <a:tblPr firstRow="1" bandRow="1">
                <a:tableStyleId>{5C22544A-7EE6-4342-B048-85BDC9FD1C3A}</a:tableStyleId>
              </a:tblPr>
              <a:tblGrid>
                <a:gridCol w="1727481">
                  <a:extLst>
                    <a:ext uri="{9D8B030D-6E8A-4147-A177-3AD203B41FA5}">
                      <a16:colId xmlns="" xmlns:a16="http://schemas.microsoft.com/office/drawing/2014/main" val="20000"/>
                    </a:ext>
                  </a:extLst>
                </a:gridCol>
                <a:gridCol w="1283509">
                  <a:extLst>
                    <a:ext uri="{9D8B030D-6E8A-4147-A177-3AD203B41FA5}">
                      <a16:colId xmlns="" xmlns:a16="http://schemas.microsoft.com/office/drawing/2014/main" val="20001"/>
                    </a:ext>
                  </a:extLst>
                </a:gridCol>
                <a:gridCol w="1887618">
                  <a:extLst>
                    <a:ext uri="{9D8B030D-6E8A-4147-A177-3AD203B41FA5}">
                      <a16:colId xmlns="" xmlns:a16="http://schemas.microsoft.com/office/drawing/2014/main" val="20002"/>
                    </a:ext>
                  </a:extLst>
                </a:gridCol>
                <a:gridCol w="1486081">
                  <a:extLst>
                    <a:ext uri="{9D8B030D-6E8A-4147-A177-3AD203B41FA5}">
                      <a16:colId xmlns="" xmlns:a16="http://schemas.microsoft.com/office/drawing/2014/main" val="20003"/>
                    </a:ext>
                  </a:extLst>
                </a:gridCol>
                <a:gridCol w="1895902">
                  <a:extLst>
                    <a:ext uri="{9D8B030D-6E8A-4147-A177-3AD203B41FA5}">
                      <a16:colId xmlns="" xmlns:a16="http://schemas.microsoft.com/office/drawing/2014/main" val="20004"/>
                    </a:ext>
                  </a:extLst>
                </a:gridCol>
                <a:gridCol w="1697379">
                  <a:extLst>
                    <a:ext uri="{9D8B030D-6E8A-4147-A177-3AD203B41FA5}">
                      <a16:colId xmlns="" xmlns:a16="http://schemas.microsoft.com/office/drawing/2014/main" val="20005"/>
                    </a:ext>
                  </a:extLst>
                </a:gridCol>
              </a:tblGrid>
              <a:tr h="595363">
                <a:tc>
                  <a:txBody>
                    <a:bodyPr/>
                    <a:lstStyle/>
                    <a:p>
                      <a:pPr algn="ctr">
                        <a:lnSpc>
                          <a:spcPct val="100000"/>
                        </a:lnSpc>
                      </a:pPr>
                      <a:r>
                        <a:rPr lang="en-US" sz="1600" b="0" dirty="0">
                          <a:latin typeface="Times New Roman" panose="02020603050405020304" pitchFamily="18" charset="0"/>
                          <a:cs typeface="Times New Roman" panose="02020603050405020304" pitchFamily="18" charset="0"/>
                        </a:rPr>
                        <a:t>Paper</a:t>
                      </a:r>
                      <a:r>
                        <a:rPr lang="en-US" sz="1600" b="0" baseline="0" dirty="0">
                          <a:latin typeface="Times New Roman" panose="02020603050405020304" pitchFamily="18" charset="0"/>
                          <a:cs typeface="Times New Roman" panose="02020603050405020304" pitchFamily="18" charset="0"/>
                        </a:rPr>
                        <a:t> Title</a:t>
                      </a:r>
                      <a:endParaRPr lang="en-IN" sz="1600" b="0" dirty="0">
                        <a:latin typeface="Times New Roman" panose="02020603050405020304" pitchFamily="18" charset="0"/>
                        <a:cs typeface="Times New Roman" panose="02020603050405020304" pitchFamily="18" charset="0"/>
                      </a:endParaRPr>
                    </a:p>
                    <a:p>
                      <a:endParaRPr lang="en-IN" sz="1600" dirty="0"/>
                    </a:p>
                  </a:txBody>
                  <a:tcPr marL="76688" marR="76688"/>
                </a:tc>
                <a:tc>
                  <a:txBody>
                    <a:bodyPr/>
                    <a:lstStyle/>
                    <a:p>
                      <a:r>
                        <a:rPr lang="en-IN" sz="1600" dirty="0">
                          <a:latin typeface="Times New Roman" panose="02020603050405020304" pitchFamily="18" charset="0"/>
                          <a:cs typeface="Times New Roman" panose="02020603050405020304" pitchFamily="18" charset="0"/>
                        </a:rPr>
                        <a:t>Publication</a:t>
                      </a:r>
                      <a:r>
                        <a:rPr lang="en-IN" sz="1600" baseline="0" dirty="0">
                          <a:latin typeface="Times New Roman" panose="02020603050405020304" pitchFamily="18" charset="0"/>
                          <a:cs typeface="Times New Roman" panose="02020603050405020304" pitchFamily="18" charset="0"/>
                        </a:rPr>
                        <a:t> Year</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Algorithm</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Dataset</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Result</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Limitation</a:t>
                      </a:r>
                    </a:p>
                    <a:p>
                      <a:endParaRPr lang="en-IN" sz="1600" dirty="0"/>
                    </a:p>
                  </a:txBody>
                  <a:tcPr marL="76688" marR="76688"/>
                </a:tc>
                <a:extLst>
                  <a:ext uri="{0D108BD9-81ED-4DB2-BD59-A6C34878D82A}">
                    <a16:rowId xmlns="" xmlns:a16="http://schemas.microsoft.com/office/drawing/2014/main" val="10000"/>
                  </a:ext>
                </a:extLst>
              </a:tr>
              <a:tr h="3352833">
                <a:tc>
                  <a:txBody>
                    <a:bodyPr/>
                    <a:lstStyle/>
                    <a:p>
                      <a:pPr marL="0" indent="0" algn="l">
                        <a:buFont typeface="Arial" pitchFamily="34" charset="0"/>
                        <a:buNone/>
                      </a:pPr>
                      <a:r>
                        <a:rPr lang="en-US" sz="1600" b="0" i="0" kern="1200" dirty="0" err="1">
                          <a:solidFill>
                            <a:schemeClr val="dk1"/>
                          </a:solidFill>
                          <a:effectLst/>
                          <a:latin typeface="+mn-lt"/>
                          <a:ea typeface="+mn-ea"/>
                          <a:cs typeface="+mn-cs"/>
                        </a:rPr>
                        <a:t>LandslideSegNet</a:t>
                      </a:r>
                      <a:r>
                        <a:rPr lang="en-US" sz="1600" b="0" i="0" kern="1200" dirty="0">
                          <a:solidFill>
                            <a:schemeClr val="dk1"/>
                          </a:solidFill>
                          <a:effectLst/>
                          <a:latin typeface="+mn-lt"/>
                          <a:ea typeface="+mn-ea"/>
                          <a:cs typeface="+mn-cs"/>
                        </a:rPr>
                        <a:t>: an effective deep learning network for landslide segmentation using remote sensing imagery</a:t>
                      </a:r>
                      <a:r>
                        <a:rPr lang="en-US" sz="1600" b="0" i="0" kern="1200" dirty="0" smtClean="0">
                          <a:solidFill>
                            <a:schemeClr val="dk1"/>
                          </a:solidFill>
                          <a:effectLst/>
                          <a:latin typeface="+mn-lt"/>
                          <a:ea typeface="+mn-ea"/>
                          <a:cs typeface="+mn-cs"/>
                        </a:rPr>
                        <a:t>.</a:t>
                      </a:r>
                    </a:p>
                    <a:p>
                      <a:pPr marL="0" indent="0" algn="l">
                        <a:buFont typeface="Arial" pitchFamily="34" charset="0"/>
                        <a:buNone/>
                      </a:pPr>
                      <a:r>
                        <a:rPr lang="en-IN" sz="1600" i="1" dirty="0" smtClean="0">
                          <a:latin typeface="Times New Roman" pitchFamily="18" charset="0"/>
                          <a:cs typeface="Times New Roman" pitchFamily="18" charset="0"/>
                        </a:rPr>
                        <a:t>(Earth Science Informatics)</a:t>
                      </a:r>
                      <a:r>
                        <a:rPr lang="en-IN" sz="1600" dirty="0" smtClean="0">
                          <a:latin typeface="Times New Roman" pitchFamily="18" charset="0"/>
                          <a:cs typeface="Times New Roman" pitchFamily="18" charset="0"/>
                        </a:rPr>
                        <a:t> </a:t>
                      </a:r>
                      <a:endParaRPr lang="en-US" sz="1600" b="0" i="0" kern="1200" dirty="0" smtClean="0">
                        <a:solidFill>
                          <a:schemeClr val="dk1"/>
                        </a:solidFill>
                        <a:effectLst/>
                        <a:latin typeface="+mn-lt"/>
                        <a:ea typeface="+mn-ea"/>
                        <a:cs typeface="+mn-cs"/>
                      </a:endParaRPr>
                    </a:p>
                    <a:p>
                      <a:pPr marL="0" indent="0" algn="l">
                        <a:buFont typeface="Arial" pitchFamily="34" charset="0"/>
                        <a:buNone/>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600" b="0" dirty="0">
                          <a:latin typeface="Times New Roman" panose="02020603050405020304" pitchFamily="18" charset="0"/>
                          <a:cs typeface="Times New Roman" panose="02020603050405020304" pitchFamily="18" charset="0"/>
                        </a:rPr>
                        <a:t>Year: </a:t>
                      </a:r>
                      <a:r>
                        <a:rPr lang="en-US" sz="1600" b="0" dirty="0">
                          <a:latin typeface="Times New Roman" panose="02020603050405020304" pitchFamily="18" charset="0"/>
                          <a:cs typeface="Times New Roman" panose="02020603050405020304" pitchFamily="18" charset="0"/>
                        </a:rPr>
                        <a:t>2024 </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IN" sz="1600" b="0" dirty="0" err="1"/>
                        <a:t>LandslideSegNet</a:t>
                      </a:r>
                      <a:r>
                        <a:rPr lang="en-IN" sz="1600" dirty="0"/>
                        <a:t> – Custom encoder-decoder CNN model</a:t>
                      </a:r>
                    </a:p>
                    <a:p>
                      <a:pPr marL="0" indent="0">
                        <a:buFont typeface="Arial" pitchFamily="34" charset="0"/>
                        <a:buNone/>
                      </a:pPr>
                      <a:r>
                        <a:rPr lang="en-IN" sz="1600" b="0" dirty="0"/>
                        <a:t>Other Comparative Segmentation Models:</a:t>
                      </a:r>
                    </a:p>
                    <a:p>
                      <a:pPr marL="0" indent="0">
                        <a:buFont typeface="Arial" pitchFamily="34" charset="0"/>
                        <a:buNone/>
                      </a:pPr>
                      <a:r>
                        <a:rPr lang="en-IN" sz="1600" b="0" dirty="0"/>
                        <a:t>Unet,PSPNet,DeepLabV3,Enet,FCN8,ICNet</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r>
                        <a:rPr lang="en-US" sz="1600" b="0" dirty="0"/>
                        <a:t>Landslide4Sense ,</a:t>
                      </a:r>
                    </a:p>
                    <a:p>
                      <a:r>
                        <a:rPr lang="en-US" sz="1600" dirty="0"/>
                        <a:t>additional Datasets used in comparative studies:</a:t>
                      </a:r>
                      <a:r>
                        <a:rPr lang="en-IN" sz="1600" dirty="0"/>
                        <a:t>RapidEye,Sentinel-1 and Sentinel-2</a:t>
                      </a:r>
                    </a:p>
                    <a:p>
                      <a:r>
                        <a:rPr lang="en-IN" sz="1600" dirty="0"/>
                        <a:t>Landsat-8</a:t>
                      </a:r>
                    </a:p>
                    <a:p>
                      <a:r>
                        <a:rPr lang="en-IN" sz="1600" dirty="0"/>
                        <a:t>GVLM</a:t>
                      </a:r>
                    </a:p>
                    <a:p>
                      <a:endParaRPr lang="en-US" sz="1600" b="0" dirty="0"/>
                    </a:p>
                  </a:txBody>
                  <a:tcPr marL="76688" marR="76688"/>
                </a:tc>
                <a:tc>
                  <a:txBody>
                    <a:bodyPr/>
                    <a:lstStyle/>
                    <a:p>
                      <a:r>
                        <a:rPr lang="en-US" sz="1600" b="0" dirty="0"/>
                        <a:t>Accuracy: 97.60%</a:t>
                      </a:r>
                    </a:p>
                    <a:p>
                      <a:r>
                        <a:rPr lang="en-US" sz="1600" b="0" dirty="0"/>
                        <a:t>Mean Intersection over Union (</a:t>
                      </a:r>
                      <a:r>
                        <a:rPr lang="en-US" sz="1600" b="0" dirty="0" err="1"/>
                        <a:t>mIoU</a:t>
                      </a:r>
                      <a:r>
                        <a:rPr lang="en-US" sz="1600" b="0" dirty="0"/>
                        <a:t>): 73.65%</a:t>
                      </a:r>
                    </a:p>
                    <a:p>
                      <a:r>
                        <a:rPr lang="en-US" sz="1600" b="0" dirty="0"/>
                        <a:t>Dice Similarity Score (DSS): 66.46%</a:t>
                      </a:r>
                    </a:p>
                    <a:p>
                      <a:r>
                        <a:rPr lang="en-US" sz="1600" b="0" dirty="0"/>
                        <a:t>Precision: 71.48%</a:t>
                      </a:r>
                    </a:p>
                    <a:p>
                      <a:r>
                        <a:rPr lang="en-US" sz="1600" b="0" dirty="0"/>
                        <a:t>Recall: 62.10%</a:t>
                      </a:r>
                    </a:p>
                    <a:p>
                      <a:r>
                        <a:rPr lang="en-US" sz="1600" b="0" dirty="0"/>
                        <a:t>Total Parameters: 648,457</a:t>
                      </a:r>
                    </a:p>
                    <a:p>
                      <a:r>
                        <a:rPr lang="en-US" sz="1600" b="0" dirty="0"/>
                        <a:t>Training Time: 33.68 minutes</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No Transfer Learning Used.</a:t>
                      </a:r>
                      <a:endParaRPr lang="en-US" sz="1600" dirty="0"/>
                    </a:p>
                    <a:p>
                      <a:pPr marL="0" indent="0">
                        <a:buFont typeface="Arial" pitchFamily="34" charset="0"/>
                        <a:buNone/>
                      </a:pPr>
                      <a:r>
                        <a:rPr lang="en-US" sz="1600" dirty="0"/>
                        <a:t>Occasionally struggles with </a:t>
                      </a:r>
                      <a:r>
                        <a:rPr lang="en-US" sz="1600" b="0" dirty="0"/>
                        <a:t>precise delineation of landslide edges, </a:t>
                      </a:r>
                      <a:r>
                        <a:rPr lang="en-US" sz="1600" dirty="0"/>
                        <a:t>especially in complex terrain.</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extLst>
                  <a:ext uri="{0D108BD9-81ED-4DB2-BD59-A6C34878D82A}">
                    <a16:rowId xmlns="" xmlns:a16="http://schemas.microsoft.com/office/drawing/2014/main" val="10001"/>
                  </a:ext>
                </a:extLst>
              </a:tr>
              <a:tr h="2350116">
                <a:tc>
                  <a:txBody>
                    <a:bodyPr/>
                    <a:lstStyle/>
                    <a:p>
                      <a:pPr marL="0" indent="0">
                        <a:buFont typeface="Arial" pitchFamily="34" charset="0"/>
                        <a:buNone/>
                      </a:pPr>
                      <a:r>
                        <a:rPr lang="en-US" sz="1600" dirty="0"/>
                        <a:t>Detection and segmentation of loess landslides via satellite images: a two-phase </a:t>
                      </a:r>
                      <a:r>
                        <a:rPr lang="en-US" sz="1600" dirty="0" smtClean="0"/>
                        <a:t>framework</a:t>
                      </a:r>
                    </a:p>
                    <a:p>
                      <a:pPr marL="0" indent="0">
                        <a:buFont typeface="Arial" pitchFamily="34" charset="0"/>
                        <a:buNone/>
                      </a:pPr>
                      <a:r>
                        <a:rPr lang="en-US" sz="1600" dirty="0" smtClean="0">
                          <a:latin typeface="Times New Roman" panose="02020603050405020304" pitchFamily="18" charset="0"/>
                          <a:cs typeface="Times New Roman" panose="02020603050405020304" pitchFamily="18" charset="0"/>
                        </a:rPr>
                        <a:t>(</a:t>
                      </a:r>
                      <a:r>
                        <a:rPr lang="en-US" sz="1600" i="1" dirty="0" smtClean="0">
                          <a:latin typeface="Times New Roman" pitchFamily="18" charset="0"/>
                          <a:cs typeface="Times New Roman" pitchFamily="18" charset="0"/>
                        </a:rPr>
                        <a:t>Landslides</a:t>
                      </a:r>
                      <a:r>
                        <a:rPr lang="en-US" sz="1600" dirty="0" smtClean="0">
                          <a:latin typeface="Times New Roman" pitchFamily="18" charset="0"/>
                          <a:cs typeface="Times New Roman" pitchFamily="18" charset="0"/>
                        </a:rPr>
                        <a:t>, </a:t>
                      </a:r>
                      <a:r>
                        <a:rPr lang="en-US" sz="1600" i="1" dirty="0" smtClean="0">
                          <a:latin typeface="Times New Roman" pitchFamily="18" charset="0"/>
                          <a:cs typeface="Times New Roman" pitchFamily="18" charset="0"/>
                        </a:rPr>
                        <a:t>19</a:t>
                      </a:r>
                      <a:r>
                        <a:rPr lang="en-US" sz="1600" dirty="0" smtClean="0">
                          <a:latin typeface="Times New Roman" panose="02020603050405020304" pitchFamily="18" charset="0"/>
                          <a:cs typeface="Times New Roman" panose="02020603050405020304" pitchFamily="18" charset="0"/>
                        </a:rPr>
                        <a:t>(3), 673-686)</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dirty="0">
                          <a:latin typeface="Times New Roman" panose="02020603050405020304" pitchFamily="18" charset="0"/>
                          <a:cs typeface="Times New Roman" panose="02020603050405020304" pitchFamily="18" charset="0"/>
                        </a:rPr>
                        <a:t>Year:2022</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Detection</a:t>
                      </a:r>
                    </a:p>
                    <a:p>
                      <a:pPr marL="0" indent="0">
                        <a:buFont typeface="Arial" pitchFamily="34" charset="0"/>
                        <a:buNone/>
                      </a:pPr>
                      <a:r>
                        <a:rPr lang="en-US" sz="1600" b="0" dirty="0"/>
                        <a:t>Faster-RCNN </a:t>
                      </a:r>
                    </a:p>
                    <a:p>
                      <a:endParaRPr lang="en-US" sz="1600" b="0" dirty="0"/>
                    </a:p>
                    <a:p>
                      <a:pPr marL="0" indent="0">
                        <a:buFont typeface="Arial" pitchFamily="34" charset="0"/>
                        <a:buNone/>
                      </a:pPr>
                      <a:r>
                        <a:rPr lang="en-US" sz="1600" b="0" dirty="0"/>
                        <a:t>Segmentation</a:t>
                      </a:r>
                    </a:p>
                    <a:p>
                      <a:pPr marL="0" indent="0">
                        <a:buFont typeface="Arial" pitchFamily="34" charset="0"/>
                        <a:buNone/>
                      </a:pPr>
                      <a:r>
                        <a:rPr lang="en-US" sz="1600" b="0" dirty="0"/>
                        <a:t>U-Net with Data Fusion</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IN" sz="1600" dirty="0"/>
                        <a:t>Loess Landslide Dataset</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r>
                        <a:rPr lang="en-IN" sz="1600" b="0" dirty="0"/>
                        <a:t>FCN</a:t>
                      </a:r>
                    </a:p>
                    <a:p>
                      <a:pPr lvl="1"/>
                      <a:r>
                        <a:rPr lang="en-IN" sz="1600" dirty="0"/>
                        <a:t>Score: 0.57</a:t>
                      </a:r>
                    </a:p>
                    <a:p>
                      <a:pPr lvl="1"/>
                      <a:r>
                        <a:rPr lang="en-IN" sz="1600" dirty="0"/>
                        <a:t>DSC: 0.44</a:t>
                      </a:r>
                    </a:p>
                    <a:p>
                      <a:pPr lvl="1"/>
                      <a:r>
                        <a:rPr lang="en-IN" sz="1600" dirty="0"/>
                        <a:t>ASSD: 100.3</a:t>
                      </a:r>
                    </a:p>
                    <a:p>
                      <a:r>
                        <a:rPr lang="en-IN" sz="1600" b="0" dirty="0"/>
                        <a:t>Vanilla U-Net</a:t>
                      </a:r>
                    </a:p>
                    <a:p>
                      <a:pPr lvl="1"/>
                      <a:r>
                        <a:rPr lang="en-IN" sz="1600" dirty="0"/>
                        <a:t>Score: 0.68</a:t>
                      </a:r>
                    </a:p>
                    <a:p>
                      <a:pPr lvl="1"/>
                      <a:r>
                        <a:rPr lang="en-IN" sz="1600" dirty="0"/>
                        <a:t>DSC: 0.59</a:t>
                      </a:r>
                    </a:p>
                    <a:p>
                      <a:pPr lvl="1"/>
                      <a:r>
                        <a:rPr lang="en-IN" sz="1600" dirty="0"/>
                        <a:t>ASSD: 97.1</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Homogeneous Visual Features</a:t>
                      </a:r>
                      <a:endParaRPr lang="en-US" sz="1600" dirty="0"/>
                    </a:p>
                    <a:p>
                      <a:pPr marL="0" indent="0">
                        <a:buFont typeface="Arial" pitchFamily="34" charset="0"/>
                        <a:buNone/>
                      </a:pPr>
                      <a:r>
                        <a:rPr lang="en-US" sz="1600" b="0" dirty="0"/>
                        <a:t>Boundary Uncertainty</a:t>
                      </a:r>
                    </a:p>
                    <a:p>
                      <a:pPr marL="0" indent="0">
                        <a:buFont typeface="Arial" pitchFamily="34" charset="0"/>
                        <a:buNone/>
                      </a:pPr>
                      <a:r>
                        <a:rPr lang="en-US" sz="1600" b="0" dirty="0"/>
                        <a:t>Lack of Sub-Region Differentiation</a:t>
                      </a:r>
                      <a:endParaRPr lang="en-US" sz="1600" dirty="0"/>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07402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44457978"/>
              </p:ext>
            </p:extLst>
          </p:nvPr>
        </p:nvGraphicFramePr>
        <p:xfrm>
          <a:off x="34504" y="9704"/>
          <a:ext cx="10067299" cy="6858000"/>
        </p:xfrm>
        <a:graphic>
          <a:graphicData uri="http://schemas.openxmlformats.org/drawingml/2006/table">
            <a:tbl>
              <a:tblPr firstRow="1" bandRow="1">
                <a:tableStyleId>{5C22544A-7EE6-4342-B048-85BDC9FD1C3A}</a:tableStyleId>
              </a:tblPr>
              <a:tblGrid>
                <a:gridCol w="2053704">
                  <a:extLst>
                    <a:ext uri="{9D8B030D-6E8A-4147-A177-3AD203B41FA5}">
                      <a16:colId xmlns="" xmlns:a16="http://schemas.microsoft.com/office/drawing/2014/main" val="20000"/>
                    </a:ext>
                  </a:extLst>
                </a:gridCol>
                <a:gridCol w="1152128">
                  <a:extLst>
                    <a:ext uri="{9D8B030D-6E8A-4147-A177-3AD203B41FA5}">
                      <a16:colId xmlns="" xmlns:a16="http://schemas.microsoft.com/office/drawing/2014/main" val="20001"/>
                    </a:ext>
                  </a:extLst>
                </a:gridCol>
                <a:gridCol w="1803815">
                  <a:extLst>
                    <a:ext uri="{9D8B030D-6E8A-4147-A177-3AD203B41FA5}">
                      <a16:colId xmlns="" xmlns:a16="http://schemas.microsoft.com/office/drawing/2014/main" val="20002"/>
                    </a:ext>
                  </a:extLst>
                </a:gridCol>
                <a:gridCol w="1468440">
                  <a:extLst>
                    <a:ext uri="{9D8B030D-6E8A-4147-A177-3AD203B41FA5}">
                      <a16:colId xmlns="" xmlns:a16="http://schemas.microsoft.com/office/drawing/2014/main" val="20003"/>
                    </a:ext>
                  </a:extLst>
                </a:gridCol>
                <a:gridCol w="2140451">
                  <a:extLst>
                    <a:ext uri="{9D8B030D-6E8A-4147-A177-3AD203B41FA5}">
                      <a16:colId xmlns="" xmlns:a16="http://schemas.microsoft.com/office/drawing/2014/main" val="20004"/>
                    </a:ext>
                  </a:extLst>
                </a:gridCol>
                <a:gridCol w="1448761">
                  <a:extLst>
                    <a:ext uri="{9D8B030D-6E8A-4147-A177-3AD203B41FA5}">
                      <a16:colId xmlns="" xmlns:a16="http://schemas.microsoft.com/office/drawing/2014/main" val="20005"/>
                    </a:ext>
                  </a:extLst>
                </a:gridCol>
              </a:tblGrid>
              <a:tr h="778337">
                <a:tc>
                  <a:txBody>
                    <a:bodyPr/>
                    <a:lstStyle/>
                    <a:p>
                      <a:pPr algn="ctr">
                        <a:lnSpc>
                          <a:spcPct val="100000"/>
                        </a:lnSpc>
                      </a:pPr>
                      <a:r>
                        <a:rPr lang="en-US" sz="1600" b="0" dirty="0">
                          <a:latin typeface="Times New Roman" panose="02020603050405020304" pitchFamily="18" charset="0"/>
                          <a:cs typeface="Times New Roman" panose="02020603050405020304" pitchFamily="18" charset="0"/>
                        </a:rPr>
                        <a:t>Publication</a:t>
                      </a:r>
                    </a:p>
                    <a:p>
                      <a:pPr algn="ctr">
                        <a:lnSpc>
                          <a:spcPct val="100000"/>
                        </a:lnSpc>
                      </a:pPr>
                      <a:r>
                        <a:rPr lang="en-US" sz="1600" b="0" dirty="0">
                          <a:latin typeface="Times New Roman" panose="02020603050405020304" pitchFamily="18" charset="0"/>
                          <a:cs typeface="Times New Roman" panose="02020603050405020304" pitchFamily="18" charset="0"/>
                        </a:rPr>
                        <a:t>Details</a:t>
                      </a:r>
                      <a:endParaRPr lang="en-IN" sz="1600" b="0" dirty="0">
                        <a:latin typeface="Times New Roman" panose="02020603050405020304" pitchFamily="18" charset="0"/>
                        <a:cs typeface="Times New Roman" panose="02020603050405020304" pitchFamily="18" charset="0"/>
                      </a:endParaRPr>
                    </a:p>
                    <a:p>
                      <a:endParaRPr lang="en-IN" sz="1600" dirty="0"/>
                    </a:p>
                  </a:txBody>
                  <a:tcPr marL="76688" marR="76688"/>
                </a:tc>
                <a:tc>
                  <a:txBody>
                    <a:bodyPr/>
                    <a:lstStyle/>
                    <a:p>
                      <a:r>
                        <a:rPr lang="en-IN" sz="1600" b="0" dirty="0">
                          <a:latin typeface="Times New Roman" panose="02020603050405020304" pitchFamily="18" charset="0"/>
                          <a:cs typeface="Times New Roman" panose="02020603050405020304" pitchFamily="18" charset="0"/>
                        </a:rPr>
                        <a:t>Publication</a:t>
                      </a:r>
                      <a:r>
                        <a:rPr lang="en-IN" sz="1600" b="0" baseline="0" dirty="0">
                          <a:latin typeface="Times New Roman" panose="02020603050405020304" pitchFamily="18" charset="0"/>
                          <a:cs typeface="Times New Roman" panose="02020603050405020304" pitchFamily="18" charset="0"/>
                        </a:rPr>
                        <a:t> Year</a:t>
                      </a:r>
                      <a:endParaRPr lang="en-IN" sz="1600" b="0" dirty="0">
                        <a:latin typeface="Times New Roman" panose="02020603050405020304" pitchFamily="18" charset="0"/>
                        <a:cs typeface="Times New Roman" panose="02020603050405020304" pitchFamily="18" charset="0"/>
                      </a:endParaRPr>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Algorithm</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Dataset</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Result</a:t>
                      </a:r>
                    </a:p>
                    <a:p>
                      <a:endParaRPr lang="en-IN" sz="1600" dirty="0"/>
                    </a:p>
                  </a:txBody>
                  <a:tcPr marL="76688" marR="766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Limitation</a:t>
                      </a:r>
                    </a:p>
                    <a:p>
                      <a:endParaRPr lang="en-IN" sz="1600" dirty="0"/>
                    </a:p>
                  </a:txBody>
                  <a:tcPr marL="76688" marR="76688"/>
                </a:tc>
                <a:extLst>
                  <a:ext uri="{0D108BD9-81ED-4DB2-BD59-A6C34878D82A}">
                    <a16:rowId xmlns="" xmlns:a16="http://schemas.microsoft.com/office/drawing/2014/main" val="10000"/>
                  </a:ext>
                </a:extLst>
              </a:tr>
              <a:tr h="2452320">
                <a:tc>
                  <a:txBody>
                    <a:bodyPr/>
                    <a:lstStyle/>
                    <a:p>
                      <a:pPr marL="0" indent="0" algn="l">
                        <a:buFont typeface="Arial" pitchFamily="34" charset="0"/>
                        <a:buNone/>
                      </a:pPr>
                      <a:r>
                        <a:rPr lang="en-US" sz="1600" dirty="0"/>
                        <a:t>Efficient and automatic extraction of slope units based on multi-scale segmentation method for landslide </a:t>
                      </a:r>
                      <a:r>
                        <a:rPr lang="en-US" sz="1600" dirty="0" smtClean="0"/>
                        <a:t>assessments</a:t>
                      </a:r>
                    </a:p>
                    <a:p>
                      <a:pPr marL="0" indent="0" algn="l">
                        <a:buFont typeface="Arial" pitchFamily="34" charset="0"/>
                        <a:buNone/>
                      </a:pPr>
                      <a:r>
                        <a:rPr lang="en-US" sz="1600" i="1" dirty="0" smtClean="0">
                          <a:latin typeface="Times New Roman" pitchFamily="18" charset="0"/>
                          <a:cs typeface="Times New Roman" pitchFamily="18" charset="0"/>
                        </a:rPr>
                        <a:t>(Landslides</a:t>
                      </a:r>
                      <a:r>
                        <a:rPr lang="en-US" sz="1600" dirty="0" smtClean="0">
                          <a:latin typeface="Times New Roman" pitchFamily="18" charset="0"/>
                          <a:cs typeface="Times New Roman" pitchFamily="18" charset="0"/>
                        </a:rPr>
                        <a:t> 18  3715-3731)</a:t>
                      </a:r>
                      <a:endParaRPr lang="en-US" sz="1600" dirty="0" smtClean="0"/>
                    </a:p>
                    <a:p>
                      <a:pPr marL="0" indent="0" algn="l">
                        <a:buFont typeface="Arial" pitchFamily="34" charset="0"/>
                        <a:buNone/>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IN" sz="1600" dirty="0">
                          <a:latin typeface="Times New Roman" panose="02020603050405020304" pitchFamily="18" charset="0"/>
                          <a:cs typeface="Times New Roman" panose="02020603050405020304" pitchFamily="18" charset="0"/>
                        </a:rPr>
                        <a:t>Year</a:t>
                      </a:r>
                      <a:r>
                        <a:rPr lang="en-IN" sz="1600" baseline="0" dirty="0">
                          <a:latin typeface="Times New Roman" panose="02020603050405020304" pitchFamily="18" charset="0"/>
                          <a:cs typeface="Times New Roman" panose="02020603050405020304" pitchFamily="18" charset="0"/>
                        </a:rPr>
                        <a:t> :2022</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IN" b="0" dirty="0"/>
                        <a:t>Multi-Scale Segmentation (MSS) </a:t>
                      </a:r>
                    </a:p>
                    <a:p>
                      <a:pPr marL="0" indent="0" algn="l">
                        <a:buFont typeface="Arial" pitchFamily="34" charset="0"/>
                        <a:buNone/>
                      </a:pPr>
                      <a:r>
                        <a:rPr lang="en-IN" sz="1600" b="0" dirty="0"/>
                        <a:t>Hydrological Method (GIS-based)</a:t>
                      </a:r>
                      <a:endParaRPr lang="en-IN" sz="1600" b="0" dirty="0">
                        <a:latin typeface="Times New Roman" panose="02020603050405020304" pitchFamily="18" charset="0"/>
                        <a:cs typeface="Times New Roman" panose="02020603050405020304" pitchFamily="18" charset="0"/>
                      </a:endParaRPr>
                    </a:p>
                  </a:txBody>
                  <a:tcPr marL="76688" marR="76688"/>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600" b="0" dirty="0"/>
                        <a:t>Digital Elevation Models (DEMs) </a:t>
                      </a:r>
                      <a:r>
                        <a:rPr lang="en-US" sz="1600" dirty="0"/>
                        <a:t>with 8.9m spatial resolution</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MSS Method (</a:t>
                      </a:r>
                      <a:r>
                        <a:rPr lang="en-US" sz="1600" b="0" dirty="0" err="1"/>
                        <a:t>Chongyi</a:t>
                      </a:r>
                      <a:r>
                        <a:rPr lang="en-US" sz="1600" b="0" dirty="0"/>
                        <a:t> County)</a:t>
                      </a:r>
                      <a:endParaRPr lang="en-US" sz="1600" dirty="0"/>
                    </a:p>
                    <a:p>
                      <a:r>
                        <a:rPr lang="en-US" sz="1600" dirty="0"/>
                        <a:t>Asymmetry: 81.42% units had &lt; 0.7 (more regular shapes)</a:t>
                      </a:r>
                    </a:p>
                    <a:p>
                      <a:r>
                        <a:rPr lang="en-US" sz="1600" dirty="0"/>
                        <a:t>Compactness: 87.31% units had &lt; 1.80</a:t>
                      </a:r>
                    </a:p>
                    <a:p>
                      <a:r>
                        <a:rPr lang="en-US" sz="1600" b="0" dirty="0"/>
                        <a:t>Hydrological Method (</a:t>
                      </a:r>
                      <a:r>
                        <a:rPr lang="en-US" sz="1600" b="0" dirty="0" err="1"/>
                        <a:t>Chongyi</a:t>
                      </a:r>
                      <a:r>
                        <a:rPr lang="en-US" sz="1600" b="0" dirty="0"/>
                        <a:t> County)</a:t>
                      </a:r>
                      <a:r>
                        <a:rPr lang="en-US" sz="1600" dirty="0"/>
                        <a:t> </a:t>
                      </a:r>
                    </a:p>
                  </a:txBody>
                  <a:tcPr marL="76688" marR="76688"/>
                </a:tc>
                <a:tc>
                  <a:txBody>
                    <a:bodyPr/>
                    <a:lstStyle/>
                    <a:p>
                      <a:pPr marL="0" indent="0">
                        <a:buFont typeface="Arial" pitchFamily="34" charset="0"/>
                        <a:buNone/>
                      </a:pPr>
                      <a:r>
                        <a:rPr lang="en-US" sz="1600" b="0" dirty="0"/>
                        <a:t>Limited Environmental Factors</a:t>
                      </a:r>
                    </a:p>
                    <a:p>
                      <a:pPr marL="0" indent="0">
                        <a:buFont typeface="Arial" pitchFamily="34" charset="0"/>
                        <a:buNone/>
                      </a:pPr>
                      <a:r>
                        <a:rPr lang="en-US" sz="1600" b="0" dirty="0"/>
                        <a:t>Parameter Sensitivity</a:t>
                      </a:r>
                      <a:endParaRPr lang="en-US" sz="1600" dirty="0"/>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extLst>
                  <a:ext uri="{0D108BD9-81ED-4DB2-BD59-A6C34878D82A}">
                    <a16:rowId xmlns="" xmlns:a16="http://schemas.microsoft.com/office/drawing/2014/main" val="10001"/>
                  </a:ext>
                </a:extLst>
              </a:tr>
              <a:tr h="3168352">
                <a:tc>
                  <a:txBody>
                    <a:bodyPr/>
                    <a:lstStyle/>
                    <a:p>
                      <a:pPr marL="0" indent="0">
                        <a:buFont typeface="Arial" pitchFamily="34" charset="0"/>
                        <a:buNone/>
                      </a:pPr>
                      <a:r>
                        <a:rPr lang="en-US" sz="1600" dirty="0"/>
                        <a:t>Landslide Inventory Mapping From </a:t>
                      </a:r>
                      <a:r>
                        <a:rPr lang="en-US" sz="1600" dirty="0" err="1"/>
                        <a:t>Bitemporal</a:t>
                      </a:r>
                      <a:r>
                        <a:rPr lang="en-US" sz="1600" dirty="0"/>
                        <a:t> High-Resolution Remote Sensing Images Using Change Detection and </a:t>
                      </a:r>
                      <a:r>
                        <a:rPr lang="en-US" sz="1600" dirty="0" err="1"/>
                        <a:t>Multiscale</a:t>
                      </a:r>
                      <a:r>
                        <a:rPr lang="en-US" sz="1600" dirty="0"/>
                        <a:t> </a:t>
                      </a:r>
                      <a:r>
                        <a:rPr lang="en-US" sz="1600" dirty="0" smtClean="0"/>
                        <a:t>Segmentation</a:t>
                      </a:r>
                    </a:p>
                    <a:p>
                      <a:pPr marL="0" indent="0">
                        <a:buFont typeface="Arial" pitchFamily="34" charset="0"/>
                        <a:buNone/>
                      </a:pPr>
                      <a:r>
                        <a:rPr lang="en-IN" sz="1600" i="1" dirty="0" smtClean="0">
                          <a:latin typeface="Times New Roman" pitchFamily="18" charset="0"/>
                          <a:cs typeface="Times New Roman" pitchFamily="18" charset="0"/>
                        </a:rPr>
                        <a:t>(IEEE Journal of Selected Topics in Applied Earth Observations and Remote Sensing</a:t>
                      </a:r>
                      <a:r>
                        <a:rPr lang="en-IN" sz="1600" i="0" dirty="0" smtClean="0">
                          <a:latin typeface="Times New Roman" pitchFamily="18" charset="0"/>
                          <a:cs typeface="Times New Roman" pitchFamily="18" charset="0"/>
                        </a:rPr>
                        <a:t>)</a:t>
                      </a:r>
                      <a:endParaRPr lang="en-IN" sz="1600" b="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IN" sz="1600" dirty="0">
                          <a:latin typeface="Times New Roman" panose="02020603050405020304" pitchFamily="18" charset="0"/>
                          <a:cs typeface="Times New Roman" panose="02020603050405020304" pitchFamily="18" charset="0"/>
                        </a:rPr>
                        <a:t>Year:</a:t>
                      </a:r>
                      <a:r>
                        <a:rPr lang="en-IN" sz="1600" baseline="0" dirty="0">
                          <a:latin typeface="Times New Roman" panose="02020603050405020304" pitchFamily="18" charset="0"/>
                          <a:cs typeface="Times New Roman" panose="02020603050405020304" pitchFamily="18" charset="0"/>
                        </a:rPr>
                        <a:t> 2018</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Change Magnitude Image (CMI) </a:t>
                      </a:r>
                    </a:p>
                    <a:p>
                      <a:pPr marL="0" indent="0">
                        <a:buFont typeface="Arial" pitchFamily="34" charset="0"/>
                        <a:buNone/>
                      </a:pPr>
                      <a:r>
                        <a:rPr lang="en-US" sz="1600" b="0" dirty="0" err="1"/>
                        <a:t>Multithresholds</a:t>
                      </a:r>
                      <a:r>
                        <a:rPr lang="en-US" sz="1600" b="0" dirty="0"/>
                        <a:t> to generate binary maps Majority Voting (MV) to combine binary maps</a:t>
                      </a:r>
                      <a:r>
                        <a:rPr lang="en-US" sz="1600" b="0" baseline="0" dirty="0"/>
                        <a:t> </a:t>
                      </a:r>
                      <a:r>
                        <a:rPr lang="en-US" sz="1600" b="0" dirty="0"/>
                        <a:t>of post-event image</a:t>
                      </a:r>
                      <a:r>
                        <a:rPr lang="en-US" sz="1600" b="0" baseline="0" dirty="0"/>
                        <a:t> </a:t>
                      </a:r>
                      <a:r>
                        <a:rPr lang="en-US" sz="1600" b="0" dirty="0"/>
                        <a:t>Object-Based Voting (OBV) </a:t>
                      </a:r>
                    </a:p>
                    <a:p>
                      <a:pPr marL="285750" indent="-285750">
                        <a:buFont typeface="Arial" pitchFamily="34" charset="0"/>
                        <a:buChar char="•"/>
                      </a:pPr>
                      <a:endParaRPr lang="en-IN" sz="1600" b="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dirty="0"/>
                        <a:t>Pre- and post-event </a:t>
                      </a:r>
                      <a:r>
                        <a:rPr lang="en-US" sz="1600" b="0" dirty="0"/>
                        <a:t>high-resolution aerial images</a:t>
                      </a:r>
                      <a:endParaRPr lang="en-IN" sz="1600" b="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IN" sz="1600" dirty="0">
                          <a:latin typeface="Times New Roman" panose="02020603050405020304" pitchFamily="18" charset="0"/>
                          <a:cs typeface="Times New Roman" panose="02020603050405020304" pitchFamily="18" charset="0"/>
                        </a:rPr>
                        <a:t>Area</a:t>
                      </a:r>
                      <a:r>
                        <a:rPr lang="en-IN" sz="1600" baseline="0" dirty="0">
                          <a:latin typeface="Times New Roman" panose="02020603050405020304" pitchFamily="18" charset="0"/>
                          <a:cs typeface="Times New Roman" panose="02020603050405020304" pitchFamily="18" charset="0"/>
                        </a:rPr>
                        <a:t> A:90.7</a:t>
                      </a:r>
                    </a:p>
                    <a:p>
                      <a:pPr marL="0" indent="0">
                        <a:buFont typeface="Arial" pitchFamily="34" charset="0"/>
                        <a:buNone/>
                      </a:pPr>
                      <a:r>
                        <a:rPr lang="en-IN" sz="1600" baseline="0" dirty="0">
                          <a:latin typeface="Times New Roman" panose="02020603050405020304" pitchFamily="18" charset="0"/>
                          <a:cs typeface="Times New Roman" panose="02020603050405020304" pitchFamily="18" charset="0"/>
                        </a:rPr>
                        <a:t>AreaB:80.1</a:t>
                      </a:r>
                    </a:p>
                    <a:p>
                      <a:pPr marL="0" indent="0">
                        <a:buFont typeface="Arial" pitchFamily="34" charset="0"/>
                        <a:buNone/>
                      </a:pPr>
                      <a:r>
                        <a:rPr lang="en-IN" sz="1600" baseline="0" dirty="0">
                          <a:latin typeface="Times New Roman" panose="02020603050405020304" pitchFamily="18" charset="0"/>
                          <a:cs typeface="Times New Roman" panose="02020603050405020304" pitchFamily="18" charset="0"/>
                        </a:rPr>
                        <a:t>Area C:60.06</a:t>
                      </a:r>
                      <a:endParaRPr lang="en-IN" sz="1600" dirty="0">
                        <a:latin typeface="Times New Roman" panose="02020603050405020304" pitchFamily="18" charset="0"/>
                        <a:cs typeface="Times New Roman" panose="02020603050405020304" pitchFamily="18" charset="0"/>
                      </a:endParaRPr>
                    </a:p>
                  </a:txBody>
                  <a:tcPr marL="76688" marR="76688"/>
                </a:tc>
                <a:tc>
                  <a:txBody>
                    <a:bodyPr/>
                    <a:lstStyle/>
                    <a:p>
                      <a:pPr marL="0" indent="0">
                        <a:buFont typeface="Arial" pitchFamily="34" charset="0"/>
                        <a:buNone/>
                      </a:pPr>
                      <a:r>
                        <a:rPr lang="en-US" sz="1600" b="0" dirty="0"/>
                        <a:t>Lower Accuracy in Forested Areas:</a:t>
                      </a:r>
                    </a:p>
                    <a:p>
                      <a:pPr marL="0" indent="0">
                        <a:buFont typeface="Arial" pitchFamily="34" charset="0"/>
                        <a:buNone/>
                      </a:pPr>
                      <a:r>
                        <a:rPr lang="en-US" sz="1600" b="0" dirty="0"/>
                        <a:t>Sensitivity</a:t>
                      </a:r>
                    </a:p>
                    <a:p>
                      <a:pPr marL="0" indent="0">
                        <a:buFont typeface="Arial" pitchFamily="34" charset="0"/>
                        <a:buNone/>
                      </a:pPr>
                      <a:r>
                        <a:rPr lang="en-US" sz="1600" b="0" dirty="0"/>
                        <a:t>Noise Sensitivity in High-Resolution Images</a:t>
                      </a:r>
                    </a:p>
                    <a:p>
                      <a:pPr marL="285750" indent="-285750">
                        <a:buFont typeface="Arial" pitchFamily="34" charset="0"/>
                        <a:buChar char="•"/>
                      </a:pPr>
                      <a:endParaRPr lang="en-IN" sz="1600" dirty="0">
                        <a:latin typeface="Times New Roman" panose="02020603050405020304" pitchFamily="18" charset="0"/>
                        <a:cs typeface="Times New Roman" panose="02020603050405020304" pitchFamily="18" charset="0"/>
                      </a:endParaRPr>
                    </a:p>
                  </a:txBody>
                  <a:tcPr marL="76688" marR="76688"/>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423407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258" y="274638"/>
            <a:ext cx="9202579" cy="634082"/>
          </a:xfrm>
        </p:spPr>
        <p:txBody>
          <a:bodyPr>
            <a:normAutofit/>
          </a:bodyPr>
          <a:lstStyle/>
          <a:p>
            <a:r>
              <a:rPr lang="en-IN" sz="2800" b="1" dirty="0" smtClean="0">
                <a:latin typeface="Times New Roman" pitchFamily="18" charset="0"/>
                <a:cs typeface="Times New Roman" pitchFamily="18" charset="0"/>
              </a:rPr>
              <a:t>LITERATURE SUMMARY</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511258" y="980728"/>
            <a:ext cx="9569838" cy="5472607"/>
          </a:xfrm>
        </p:spPr>
        <p:txBody>
          <a:bodyPr>
            <a:noAutofit/>
          </a:bodyPr>
          <a:lstStyle/>
          <a:p>
            <a:pPr algn="just"/>
            <a:r>
              <a:rPr lang="en-US" sz="2000" dirty="0">
                <a:latin typeface="Times New Roman" pitchFamily="18" charset="0"/>
                <a:cs typeface="Times New Roman" pitchFamily="18" charset="0"/>
              </a:rPr>
              <a:t>Deep learning models such as </a:t>
            </a:r>
            <a:r>
              <a:rPr lang="en-US" sz="2000" dirty="0" err="1">
                <a:latin typeface="Times New Roman" pitchFamily="18" charset="0"/>
                <a:cs typeface="Times New Roman" pitchFamily="18" charset="0"/>
              </a:rPr>
              <a:t>LandslideSegNet</a:t>
            </a:r>
            <a:r>
              <a:rPr lang="en-US" sz="2000" dirty="0">
                <a:latin typeface="Times New Roman" pitchFamily="18" charset="0"/>
                <a:cs typeface="Times New Roman" pitchFamily="18" charset="0"/>
              </a:rPr>
              <a:t> and U-Net variants </a:t>
            </a:r>
            <a:r>
              <a:rPr lang="en-US" sz="2000" dirty="0" smtClean="0">
                <a:latin typeface="Times New Roman" pitchFamily="18" charset="0"/>
                <a:cs typeface="Times New Roman" pitchFamily="18" charset="0"/>
              </a:rPr>
              <a:t>have</a:t>
            </a:r>
          </a:p>
          <a:p>
            <a:pPr marL="0" indent="0" algn="just">
              <a:buNone/>
            </a:pPr>
            <a:r>
              <a:rPr lang="en-US" sz="2000" dirty="0" smtClean="0">
                <a:latin typeface="Times New Roman" pitchFamily="18" charset="0"/>
                <a:cs typeface="Times New Roman" pitchFamily="18" charset="0"/>
              </a:rPr>
              <a:t>shown </a:t>
            </a:r>
            <a:r>
              <a:rPr lang="en-US" sz="2000" dirty="0">
                <a:latin typeface="Times New Roman" pitchFamily="18" charset="0"/>
                <a:cs typeface="Times New Roman" pitchFamily="18" charset="0"/>
              </a:rPr>
              <a:t>high accuracy in landslide segmentation but often struggle with precise boundary detection in complex terrains.</a:t>
            </a:r>
          </a:p>
          <a:p>
            <a:pPr marL="0" indent="0" algn="just">
              <a:buNone/>
            </a:pPr>
            <a:r>
              <a:rPr lang="en-US" sz="2000" dirty="0">
                <a:latin typeface="Times New Roman" pitchFamily="18" charset="0"/>
                <a:cs typeface="Times New Roman" pitchFamily="18" charset="0"/>
              </a:rPr>
              <a:t>• Two-stage frameworks combining Faster R-CNN and U-Net improve detection and segmentation performance but face challenges in low-contrast and heterogeneous regions.</a:t>
            </a:r>
          </a:p>
          <a:p>
            <a:pPr marL="0" indent="0" algn="just">
              <a:buNone/>
            </a:pPr>
            <a:r>
              <a:rPr lang="en-US" sz="2000" dirty="0">
                <a:latin typeface="Times New Roman" pitchFamily="18" charset="0"/>
                <a:cs typeface="Times New Roman" pitchFamily="18" charset="0"/>
              </a:rPr>
              <a:t>• Traditional methods like multi-scale segmentation and GIS-based approaches rely on terrain features (DEM) but lack pixel-level accuracy and automation.</a:t>
            </a:r>
          </a:p>
          <a:p>
            <a:pPr marL="0" indent="0" algn="just">
              <a:buNone/>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Many existing methods suffer from class imbalance, poor generalization, and difficulty in detecting small or irregular landslides.</a:t>
            </a:r>
          </a:p>
          <a:p>
            <a:pPr marL="0" indent="0" algn="just">
              <a:buNone/>
            </a:pPr>
            <a:r>
              <a:rPr lang="en-US" sz="2000" dirty="0">
                <a:latin typeface="Times New Roman" pitchFamily="18" charset="0"/>
                <a:cs typeface="Times New Roman" pitchFamily="18" charset="0"/>
              </a:rPr>
              <a:t>• Recent advancements highlight the need for transformer-based models, which can capture both local and global features, improving segmentation accuracy and boundary delineation.</a:t>
            </a:r>
          </a:p>
          <a:p>
            <a:pPr algn="just"/>
            <a:endParaRPr lang="en-IN" sz="2000" dirty="0"/>
          </a:p>
        </p:txBody>
      </p:sp>
    </p:spTree>
    <p:extLst>
      <p:ext uri="{BB962C8B-B14F-4D97-AF65-F5344CB8AC3E}">
        <p14:creationId xmlns:p14="http://schemas.microsoft.com/office/powerpoint/2010/main" val="1309690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0066" y="260648"/>
            <a:ext cx="6186886" cy="523220"/>
          </a:xfrm>
          <a:prstGeom prst="rect">
            <a:avLst/>
          </a:prstGeom>
          <a:noFill/>
        </p:spPr>
        <p:txBody>
          <a:bodyPr wrap="none" rtlCol="0">
            <a:spAutoFit/>
          </a:bodyPr>
          <a:lstStyle/>
          <a:p>
            <a:pPr algn="just"/>
            <a:r>
              <a:rPr lang="en-US" sz="2800" b="1" dirty="0" smtClean="0">
                <a:latin typeface="Times New Roman" panose="02020603050405020304" pitchFamily="18" charset="0"/>
                <a:cs typeface="Times New Roman" panose="02020603050405020304" pitchFamily="18" charset="0"/>
              </a:rPr>
              <a:t>   DATASETS </a:t>
            </a:r>
            <a:r>
              <a:rPr lang="en-US" sz="2800" b="1" dirty="0">
                <a:latin typeface="Times New Roman" panose="02020603050405020304" pitchFamily="18" charset="0"/>
                <a:cs typeface="Times New Roman" panose="02020603050405020304" pitchFamily="18" charset="0"/>
              </a:rPr>
              <a:t>AND REQUIREMENTS</a:t>
            </a:r>
          </a:p>
        </p:txBody>
      </p:sp>
      <p:sp>
        <p:nvSpPr>
          <p:cNvPr id="5" name="TextBox 4"/>
          <p:cNvSpPr txBox="1"/>
          <p:nvPr/>
        </p:nvSpPr>
        <p:spPr>
          <a:xfrm>
            <a:off x="541743" y="994730"/>
            <a:ext cx="9148128" cy="2246769"/>
          </a:xfrm>
          <a:prstGeom prst="rect">
            <a:avLst/>
          </a:prstGeom>
          <a:noFill/>
        </p:spPr>
        <p:txBody>
          <a:bodyPr wrap="square" rtlCol="0">
            <a:spAutoFit/>
          </a:bodyPr>
          <a:lstStyle/>
          <a:p>
            <a:r>
              <a:rPr lang="en-US" sz="2000" b="1" dirty="0" err="1">
                <a:latin typeface="Times New Roman" pitchFamily="18" charset="0"/>
                <a:cs typeface="Times New Roman" pitchFamily="18" charset="0"/>
              </a:rPr>
              <a:t>LandslideDetectionDataset</a:t>
            </a:r>
            <a:endParaRPr lang="en-US" sz="2000" b="1" dirty="0">
              <a:latin typeface="Times New Roman" pitchFamily="18" charset="0"/>
              <a:cs typeface="Times New Roman" pitchFamily="18" charset="0"/>
            </a:endParaRPr>
          </a:p>
          <a:p>
            <a:pPr algn="just"/>
            <a:r>
              <a:rPr lang="en-US" sz="2000" dirty="0"/>
              <a:t/>
            </a:r>
            <a:br>
              <a:rPr lang="en-US" sz="2000" dirty="0"/>
            </a:br>
            <a:r>
              <a:rPr lang="en-US" sz="2000" b="1" dirty="0">
                <a:latin typeface="Times New Roman" pitchFamily="18" charset="0"/>
                <a:cs typeface="Times New Roman" pitchFamily="18" charset="0"/>
              </a:rPr>
              <a:t>Purpose:</a:t>
            </a:r>
            <a:r>
              <a:rPr lang="en-US" sz="2000" dirty="0">
                <a:latin typeface="Times New Roman" pitchFamily="18" charset="0"/>
                <a:cs typeface="Times New Roman" pitchFamily="18" charset="0"/>
              </a:rPr>
              <a:t> Used for identifying and classifying landslide-prone areas using image-based deep learning techniques.</a:t>
            </a:r>
          </a:p>
          <a:p>
            <a:pPr algn="just"/>
            <a:r>
              <a:rPr lang="en-US" sz="2000" dirty="0">
                <a:latin typeface="Times New Roman" pitchFamily="18" charset="0"/>
                <a:cs typeface="Times New Roman" pitchFamily="18" charset="0"/>
              </a:rPr>
              <a:t>This Project uses the </a:t>
            </a:r>
            <a:r>
              <a:rPr lang="en-US" sz="2000" b="1" dirty="0">
                <a:latin typeface="Times New Roman" pitchFamily="18" charset="0"/>
                <a:cs typeface="Times New Roman" pitchFamily="18" charset="0"/>
              </a:rPr>
              <a:t>Landslide4Sense</a:t>
            </a:r>
            <a:r>
              <a:rPr lang="en-US" sz="2000" dirty="0">
                <a:latin typeface="Times New Roman" pitchFamily="18" charset="0"/>
                <a:cs typeface="Times New Roman" pitchFamily="18" charset="0"/>
              </a:rPr>
              <a:t> dataset. This dataset contains satellite imagery for landslide segmentation tasks.</a:t>
            </a:r>
          </a:p>
          <a:p>
            <a:pPr algn="just"/>
            <a:r>
              <a:rPr lang="en-US" sz="2000" dirty="0" err="1">
                <a:latin typeface="Times New Roman" pitchFamily="18" charset="0"/>
                <a:cs typeface="Times New Roman" pitchFamily="18" charset="0"/>
              </a:rPr>
              <a:t>KaggleSource</a:t>
            </a:r>
            <a:r>
              <a:rPr lang="en-US" sz="2000" dirty="0">
                <a:latin typeface="Times New Roman" pitchFamily="18" charset="0"/>
                <a:cs typeface="Times New Roman" pitchFamily="18" charset="0"/>
              </a:rPr>
              <a:t>: </a:t>
            </a:r>
            <a:r>
              <a:rPr lang="en-US" sz="2000" u="sng" dirty="0">
                <a:solidFill>
                  <a:schemeClr val="accent1"/>
                </a:solidFill>
                <a:latin typeface="Times New Roman" pitchFamily="18" charset="0"/>
                <a:cs typeface="Times New Roman" pitchFamily="18" charset="0"/>
              </a:rPr>
              <a:t>https://www.kaggle.com/code/sreedevd/seg-land-1/input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979" y="3641613"/>
            <a:ext cx="8333473" cy="31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3099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048" y="332656"/>
            <a:ext cx="9681880" cy="4708981"/>
          </a:xfrm>
          <a:prstGeom prst="rect">
            <a:avLst/>
          </a:prstGeom>
        </p:spPr>
        <p:txBody>
          <a:bodyPr wrap="square">
            <a:spAutoFit/>
          </a:bodyPr>
          <a:lstStyle/>
          <a:p>
            <a:pPr algn="just"/>
            <a:endParaRPr lang="en-US" b="1" dirty="0" smtClean="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Software Requirements:</a:t>
            </a:r>
          </a:p>
          <a:p>
            <a:pPr algn="just"/>
            <a:r>
              <a:rPr lang="en-US" sz="2200" dirty="0">
                <a:latin typeface="Times New Roman" pitchFamily="18" charset="0"/>
                <a:cs typeface="Times New Roman" pitchFamily="18" charset="0"/>
              </a:rPr>
              <a:t>Programming Language : Python 3.7</a:t>
            </a:r>
          </a:p>
          <a:p>
            <a:pPr algn="just"/>
            <a:r>
              <a:rPr lang="en-US" sz="2200" dirty="0">
                <a:latin typeface="Times New Roman" pitchFamily="18" charset="0"/>
                <a:cs typeface="Times New Roman" pitchFamily="18" charset="0"/>
              </a:rPr>
              <a:t>Framework : </a:t>
            </a:r>
            <a:r>
              <a:rPr lang="en-US" sz="2200" dirty="0" err="1">
                <a:latin typeface="Times New Roman" pitchFamily="18" charset="0"/>
                <a:cs typeface="Times New Roman" pitchFamily="18" charset="0"/>
              </a:rPr>
              <a:t>TensorFlow</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Keras</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Libraries : </a:t>
            </a:r>
            <a:r>
              <a:rPr lang="en-US" sz="2200" dirty="0" err="1">
                <a:latin typeface="Times New Roman" pitchFamily="18" charset="0"/>
                <a:cs typeface="Times New Roman" pitchFamily="18" charset="0"/>
              </a:rPr>
              <a:t>scikit</a:t>
            </a:r>
            <a:r>
              <a:rPr lang="en-US" sz="2200" dirty="0">
                <a:latin typeface="Times New Roman" pitchFamily="18" charset="0"/>
                <a:cs typeface="Times New Roman" pitchFamily="18" charset="0"/>
              </a:rPr>
              <a:t>-learn, </a:t>
            </a:r>
            <a:r>
              <a:rPr lang="en-US" sz="2200" dirty="0" err="1">
                <a:latin typeface="Times New Roman" pitchFamily="18" charset="0"/>
                <a:cs typeface="Times New Roman" pitchFamily="18" charset="0"/>
              </a:rPr>
              <a:t>NumPy</a:t>
            </a:r>
            <a:r>
              <a:rPr lang="en-US" sz="2200" dirty="0">
                <a:latin typeface="Times New Roman" pitchFamily="18" charset="0"/>
                <a:cs typeface="Times New Roman" pitchFamily="18" charset="0"/>
              </a:rPr>
              <a:t>, Pandas</a:t>
            </a:r>
          </a:p>
          <a:p>
            <a:pPr algn="just"/>
            <a:r>
              <a:rPr lang="en-US" sz="2200" dirty="0">
                <a:latin typeface="Times New Roman" pitchFamily="18" charset="0"/>
                <a:cs typeface="Times New Roman" pitchFamily="18" charset="0"/>
              </a:rPr>
              <a:t>Visualization : </a:t>
            </a:r>
            <a:r>
              <a:rPr lang="en-US" sz="2200" dirty="0" err="1">
                <a:latin typeface="Times New Roman" pitchFamily="18" charset="0"/>
                <a:cs typeface="Times New Roman" pitchFamily="18" charset="0"/>
              </a:rPr>
              <a:t>Matplotlib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SeabornDevelopment</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Environment : Google </a:t>
            </a:r>
            <a:r>
              <a:rPr lang="en-US" sz="2200" dirty="0" err="1">
                <a:latin typeface="Times New Roman" pitchFamily="18" charset="0"/>
                <a:cs typeface="Times New Roman" pitchFamily="18" charset="0"/>
              </a:rPr>
              <a:t>Colab</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Kaggle</a:t>
            </a:r>
            <a:r>
              <a:rPr lang="en-US" sz="2200" dirty="0">
                <a:latin typeface="Times New Roman" pitchFamily="18" charset="0"/>
                <a:cs typeface="Times New Roman" pitchFamily="18" charset="0"/>
              </a:rPr>
              <a:t> Notebooks</a:t>
            </a: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Hardware Requirements:</a:t>
            </a:r>
          </a:p>
          <a:p>
            <a:pPr algn="just"/>
            <a:r>
              <a:rPr lang="en-US" sz="2200" dirty="0">
                <a:latin typeface="Times New Roman" pitchFamily="18" charset="0"/>
                <a:cs typeface="Times New Roman" pitchFamily="18" charset="0"/>
              </a:rPr>
              <a:t>Processor (CPU) : Intel i5 </a:t>
            </a:r>
          </a:p>
          <a:p>
            <a:pPr algn="just"/>
            <a:r>
              <a:rPr lang="en-US" sz="2200" dirty="0">
                <a:latin typeface="Times New Roman" pitchFamily="18" charset="0"/>
                <a:cs typeface="Times New Roman" pitchFamily="18" charset="0"/>
              </a:rPr>
              <a:t>RAM : Minimum 8 GB </a:t>
            </a:r>
          </a:p>
          <a:p>
            <a:pPr algn="just"/>
            <a:r>
              <a:rPr lang="en-US" sz="2200" dirty="0">
                <a:latin typeface="Times New Roman" pitchFamily="18" charset="0"/>
                <a:cs typeface="Times New Roman" pitchFamily="18" charset="0"/>
              </a:rPr>
              <a:t>Storage : Minimum 10 GB </a:t>
            </a:r>
          </a:p>
          <a:p>
            <a:pPr algn="just"/>
            <a:r>
              <a:rPr lang="en-US" sz="2200" dirty="0">
                <a:latin typeface="Times New Roman" pitchFamily="18" charset="0"/>
                <a:cs typeface="Times New Roman" pitchFamily="18" charset="0"/>
              </a:rPr>
              <a:t>Graphics Card (GPU)</a:t>
            </a:r>
          </a:p>
        </p:txBody>
      </p:sp>
    </p:spTree>
    <p:extLst>
      <p:ext uri="{BB962C8B-B14F-4D97-AF65-F5344CB8AC3E}">
        <p14:creationId xmlns:p14="http://schemas.microsoft.com/office/powerpoint/2010/main" val="2443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81" y="104775"/>
            <a:ext cx="8819138" cy="704850"/>
          </a:xfrm>
        </p:spPr>
        <p:txBody>
          <a:bodyPr>
            <a:normAutofit/>
          </a:bodyPr>
          <a:lstStyle/>
          <a:p>
            <a:r>
              <a:rPr lang="en-IN" sz="2800" b="1" dirty="0">
                <a:latin typeface="Times New Roman" pitchFamily="18" charset="0"/>
                <a:cs typeface="Times New Roman" pitchFamily="18" charset="0"/>
              </a:rPr>
              <a:t>ALGORITHMS USED</a:t>
            </a:r>
          </a:p>
        </p:txBody>
      </p:sp>
      <p:sp>
        <p:nvSpPr>
          <p:cNvPr id="3" name="Content Placeholder 2"/>
          <p:cNvSpPr>
            <a:spLocks noGrp="1"/>
          </p:cNvSpPr>
          <p:nvPr>
            <p:ph idx="1"/>
          </p:nvPr>
        </p:nvSpPr>
        <p:spPr>
          <a:xfrm>
            <a:off x="576040" y="764704"/>
            <a:ext cx="9073008" cy="5688632"/>
          </a:xfrm>
        </p:spPr>
        <p:txBody>
          <a:bodyPr>
            <a:noAutofit/>
          </a:bodyPr>
          <a:lstStyle/>
          <a:p>
            <a:pPr marL="0" indent="0" algn="just">
              <a:buNone/>
            </a:pPr>
            <a:r>
              <a:rPr lang="en-IN" sz="2000" dirty="0" smtClean="0"/>
              <a:t>1</a:t>
            </a:r>
            <a:r>
              <a:rPr lang="en-IN" sz="2000" dirty="0" smtClean="0">
                <a:latin typeface="Times New Roman" pitchFamily="18" charset="0"/>
                <a:cs typeface="Times New Roman" pitchFamily="18" charset="0"/>
              </a:rPr>
              <a:t>. </a:t>
            </a:r>
            <a:r>
              <a:rPr lang="en-IN" sz="2000" dirty="0" err="1" smtClean="0">
                <a:latin typeface="Times New Roman" pitchFamily="18" charset="0"/>
                <a:cs typeface="Times New Roman" pitchFamily="18" charset="0"/>
              </a:rPr>
              <a:t>SegFormer</a:t>
            </a: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is a deep learning segmentation model that uses a transformer-based encoder to capture global contextual information from the input image and a lightweight convolution-based decoder to generate accurate pixel-level predictions.</a:t>
            </a:r>
          </a:p>
          <a:p>
            <a:r>
              <a:rPr lang="en-IN" sz="2000" dirty="0">
                <a:latin typeface="Times New Roman" pitchFamily="18" charset="0"/>
                <a:cs typeface="Times New Roman" pitchFamily="18" charset="0"/>
              </a:rPr>
              <a:t>Components:</a:t>
            </a:r>
          </a:p>
          <a:p>
            <a:r>
              <a:rPr lang="en-IN" sz="2000" dirty="0">
                <a:latin typeface="Times New Roman" pitchFamily="18" charset="0"/>
                <a:cs typeface="Times New Roman" pitchFamily="18" charset="0"/>
              </a:rPr>
              <a:t>Patch Embedding </a:t>
            </a:r>
          </a:p>
          <a:p>
            <a:r>
              <a:rPr lang="en-IN" sz="2000" dirty="0">
                <a:latin typeface="Times New Roman" pitchFamily="18" charset="0"/>
                <a:cs typeface="Times New Roman" pitchFamily="18" charset="0"/>
              </a:rPr>
              <a:t>Transformer Encoder </a:t>
            </a:r>
          </a:p>
          <a:p>
            <a:r>
              <a:rPr lang="en-IN" sz="2000" dirty="0" smtClean="0">
                <a:latin typeface="Times New Roman" pitchFamily="18" charset="0"/>
                <a:cs typeface="Times New Roman" pitchFamily="18" charset="0"/>
              </a:rPr>
              <a:t>Decoder </a:t>
            </a:r>
            <a:r>
              <a:rPr lang="en-IN" sz="2000" dirty="0">
                <a:latin typeface="Times New Roman" pitchFamily="18" charset="0"/>
                <a:cs typeface="Times New Roman" pitchFamily="18" charset="0"/>
              </a:rPr>
              <a:t>(</a:t>
            </a:r>
            <a:r>
              <a:rPr lang="en-IN" sz="2000" dirty="0" err="1" smtClean="0">
                <a:latin typeface="Times New Roman" pitchFamily="18" charset="0"/>
                <a:cs typeface="Times New Roman" pitchFamily="18" charset="0"/>
              </a:rPr>
              <a:t>Upsampling</a:t>
            </a:r>
            <a:r>
              <a:rPr lang="en-IN" sz="2000" dirty="0" smtClean="0">
                <a:latin typeface="Times New Roman" pitchFamily="18" charset="0"/>
                <a:cs typeface="Times New Roman" pitchFamily="18" charset="0"/>
              </a:rPr>
              <a:t>)</a:t>
            </a:r>
          </a:p>
          <a:p>
            <a:pPr marL="0" indent="0" algn="just">
              <a:buNone/>
            </a:pPr>
            <a:r>
              <a:rPr lang="en-US" sz="2000" dirty="0" smtClean="0">
                <a:latin typeface="Times New Roman" pitchFamily="18" charset="0"/>
                <a:cs typeface="Times New Roman" pitchFamily="18" charset="0"/>
              </a:rPr>
              <a:t>2.</a:t>
            </a:r>
            <a:r>
              <a:rPr lang="en-US" sz="2000" dirty="0"/>
              <a:t> </a:t>
            </a:r>
            <a:r>
              <a:rPr lang="en-US" sz="2000" dirty="0" err="1">
                <a:latin typeface="Times New Roman" pitchFamily="18" charset="0"/>
                <a:cs typeface="Times New Roman" pitchFamily="18" charset="0"/>
              </a:rPr>
              <a:t>MobileViT</a:t>
            </a:r>
            <a:r>
              <a:rPr lang="en-US" sz="2000" dirty="0">
                <a:latin typeface="Times New Roman" pitchFamily="18" charset="0"/>
                <a:cs typeface="Times New Roman" pitchFamily="18" charset="0"/>
              </a:rPr>
              <a:t> is a hybrid deep learning architecture that combines Convolutional Neural Networks (CNNs) with transformer-based attention mechanisms. It improves segmentation performance by capturing both local spatial features and global contextual relationships, making it effective for complex tasks like landslide detection</a:t>
            </a:r>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Components:</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Mobile </a:t>
            </a:r>
            <a:r>
              <a:rPr lang="en-US" sz="2000" dirty="0" err="1" smtClean="0">
                <a:latin typeface="Times New Roman" pitchFamily="18" charset="0"/>
                <a:cs typeface="Times New Roman" pitchFamily="18" charset="0"/>
              </a:rPr>
              <a:t>ViT</a:t>
            </a:r>
            <a:r>
              <a:rPr lang="en-US" sz="2000" dirty="0" smtClean="0">
                <a:latin typeface="Times New Roman" pitchFamily="18" charset="0"/>
                <a:cs typeface="Times New Roman" pitchFamily="18" charset="0"/>
              </a:rPr>
              <a:t> Block</a:t>
            </a:r>
          </a:p>
          <a:p>
            <a:r>
              <a:rPr lang="en-US" sz="2000" dirty="0" smtClean="0">
                <a:latin typeface="Times New Roman" pitchFamily="18" charset="0"/>
                <a:cs typeface="Times New Roman" pitchFamily="18" charset="0"/>
              </a:rPr>
              <a:t>U-Net Contracting Path (Encoder</a:t>
            </a:r>
            <a:r>
              <a:rPr lang="en-US" sz="2000" dirty="0">
                <a:latin typeface="Times New Roman" pitchFamily="18" charset="0"/>
                <a:cs typeface="Times New Roman" pitchFamily="18" charset="0"/>
              </a:rPr>
              <a:t>)</a:t>
            </a:r>
          </a:p>
          <a:p>
            <a:r>
              <a:rPr lang="en-US" sz="2000" dirty="0" smtClean="0">
                <a:latin typeface="Times New Roman" pitchFamily="18" charset="0"/>
                <a:cs typeface="Times New Roman" pitchFamily="18" charset="0"/>
              </a:rPr>
              <a:t>Bottleneck Expanding </a:t>
            </a:r>
            <a:r>
              <a:rPr lang="en-US" sz="2000" dirty="0">
                <a:latin typeface="Times New Roman" pitchFamily="18" charset="0"/>
                <a:cs typeface="Times New Roman" pitchFamily="18" charset="0"/>
              </a:rPr>
              <a:t>Path  </a:t>
            </a:r>
          </a:p>
          <a:p>
            <a:r>
              <a:rPr lang="en-US" sz="2000" dirty="0" smtClean="0">
                <a:latin typeface="Times New Roman" pitchFamily="18" charset="0"/>
                <a:cs typeface="Times New Roman" pitchFamily="18" charset="0"/>
              </a:rPr>
              <a:t>Decoder (</a:t>
            </a:r>
            <a:r>
              <a:rPr lang="en-US" sz="2000" dirty="0" err="1" smtClean="0">
                <a:latin typeface="Times New Roman" pitchFamily="18" charset="0"/>
                <a:cs typeface="Times New Roman" pitchFamily="18" charset="0"/>
              </a:rPr>
              <a:t>UpSampling</a:t>
            </a:r>
            <a:r>
              <a:rPr lang="en-US" sz="2000" dirty="0" smtClean="0">
                <a:latin typeface="Times New Roman" pitchFamily="18" charset="0"/>
                <a:cs typeface="Times New Roman" pitchFamily="18" charset="0"/>
              </a:rPr>
              <a:t> Path)</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182135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32" y="188640"/>
            <a:ext cx="9202579" cy="6264696"/>
          </a:xfrm>
        </p:spPr>
        <p:txBody>
          <a:bodyPr>
            <a:normAutofit/>
          </a:bodyPr>
          <a:lstStyle/>
          <a:p>
            <a:pPr marL="0" indent="0">
              <a:buNone/>
            </a:pPr>
            <a:r>
              <a:rPr lang="en-IN" sz="2000" b="1" dirty="0">
                <a:latin typeface="Times New Roman" pitchFamily="18" charset="0"/>
                <a:cs typeface="Times New Roman" pitchFamily="18" charset="0"/>
              </a:rPr>
              <a:t>Algorithm</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SegFormer</a:t>
            </a:r>
            <a:r>
              <a:rPr lang="en-IN" sz="2000" dirty="0">
                <a:latin typeface="Times New Roman" pitchFamily="18" charset="0"/>
                <a:cs typeface="Times New Roman" pitchFamily="18" charset="0"/>
              </a:rPr>
              <a:t> for Landslide Segmentation</a:t>
            </a:r>
          </a:p>
          <a:p>
            <a:pPr marL="0" indent="0">
              <a:buNone/>
            </a:pPr>
            <a:r>
              <a:rPr lang="en-IN" sz="2000" b="1" dirty="0">
                <a:latin typeface="Times New Roman" pitchFamily="18" charset="0"/>
                <a:cs typeface="Times New Roman" pitchFamily="18" charset="0"/>
              </a:rPr>
              <a:t>Input: </a:t>
            </a:r>
            <a:r>
              <a:rPr lang="en-IN" sz="2000" dirty="0">
                <a:latin typeface="Times New Roman" pitchFamily="18" charset="0"/>
                <a:cs typeface="Times New Roman" pitchFamily="18" charset="0"/>
              </a:rPr>
              <a:t>Satellite image (256×256×3)</a:t>
            </a:r>
            <a:br>
              <a:rPr lang="en-IN" sz="2000" dirty="0">
                <a:latin typeface="Times New Roman" pitchFamily="18" charset="0"/>
                <a:cs typeface="Times New Roman" pitchFamily="18" charset="0"/>
              </a:rPr>
            </a:br>
            <a:r>
              <a:rPr lang="en-IN" sz="2000" b="1" dirty="0">
                <a:latin typeface="Times New Roman" pitchFamily="18" charset="0"/>
                <a:cs typeface="Times New Roman" pitchFamily="18" charset="0"/>
              </a:rPr>
              <a:t>Output: </a:t>
            </a:r>
            <a:r>
              <a:rPr lang="en-IN" sz="2000" dirty="0">
                <a:latin typeface="Times New Roman" pitchFamily="18" charset="0"/>
                <a:cs typeface="Times New Roman" pitchFamily="18" charset="0"/>
              </a:rPr>
              <a:t>Binary mask (256×256) of landslide regions</a:t>
            </a:r>
          </a:p>
          <a:p>
            <a:pPr marL="0" indent="0">
              <a:buNone/>
            </a:pPr>
            <a:r>
              <a:rPr lang="en-IN" sz="2000" b="1" dirty="0">
                <a:latin typeface="Times New Roman" pitchFamily="18" charset="0"/>
                <a:cs typeface="Times New Roman" pitchFamily="18" charset="0"/>
              </a:rPr>
              <a:t>Steps:</a:t>
            </a:r>
          </a:p>
          <a:p>
            <a:r>
              <a:rPr lang="en-IN" sz="2000" dirty="0" smtClean="0">
                <a:latin typeface="Times New Roman" pitchFamily="18" charset="0"/>
                <a:cs typeface="Times New Roman" pitchFamily="18" charset="0"/>
              </a:rPr>
              <a:t>Input </a:t>
            </a:r>
            <a:r>
              <a:rPr lang="en-IN" sz="2000" dirty="0">
                <a:latin typeface="Times New Roman" pitchFamily="18" charset="0"/>
                <a:cs typeface="Times New Roman" pitchFamily="18" charset="0"/>
              </a:rPr>
              <a:t>satellite image of size 256×256×3</a:t>
            </a:r>
          </a:p>
          <a:p>
            <a:r>
              <a:rPr lang="en-IN" sz="2000" dirty="0">
                <a:latin typeface="Times New Roman" pitchFamily="18" charset="0"/>
                <a:cs typeface="Times New Roman" pitchFamily="18" charset="0"/>
              </a:rPr>
              <a:t>Apply Patch Embedding using Conv2D (stride = 4) to reduce spatial dimensions</a:t>
            </a:r>
          </a:p>
          <a:p>
            <a:r>
              <a:rPr lang="en-IN" sz="2000" dirty="0">
                <a:latin typeface="Times New Roman" pitchFamily="18" charset="0"/>
                <a:cs typeface="Times New Roman" pitchFamily="18" charset="0"/>
              </a:rPr>
              <a:t>Convert feature maps into sequences (flattening)</a:t>
            </a:r>
          </a:p>
          <a:p>
            <a:r>
              <a:rPr lang="en-IN" sz="2000" dirty="0">
                <a:latin typeface="Times New Roman" pitchFamily="18" charset="0"/>
                <a:cs typeface="Times New Roman" pitchFamily="18" charset="0"/>
              </a:rPr>
              <a:t>Pass features through multiple Transformer </a:t>
            </a:r>
            <a:r>
              <a:rPr lang="en-IN" sz="2000" dirty="0" smtClean="0">
                <a:latin typeface="Times New Roman" pitchFamily="18" charset="0"/>
                <a:cs typeface="Times New Roman" pitchFamily="18" charset="0"/>
              </a:rPr>
              <a:t>Blocks</a:t>
            </a:r>
            <a:endParaRPr lang="en-IN" sz="2000" dirty="0">
              <a:latin typeface="Times New Roman" pitchFamily="18" charset="0"/>
              <a:cs typeface="Times New Roman" pitchFamily="18" charset="0"/>
            </a:endParaRPr>
          </a:p>
          <a:p>
            <a:r>
              <a:rPr lang="en-IN" sz="2000" dirty="0" smtClean="0">
                <a:latin typeface="Times New Roman" pitchFamily="18" charset="0"/>
                <a:cs typeface="Times New Roman" pitchFamily="18" charset="0"/>
              </a:rPr>
              <a:t>Extract </a:t>
            </a:r>
            <a:r>
              <a:rPr lang="en-IN" sz="2000" dirty="0">
                <a:latin typeface="Times New Roman" pitchFamily="18" charset="0"/>
                <a:cs typeface="Times New Roman" pitchFamily="18" charset="0"/>
              </a:rPr>
              <a:t>multi-scale hierarchical features through encoder stages (64, 128, 256, 512 channels)</a:t>
            </a:r>
          </a:p>
          <a:p>
            <a:r>
              <a:rPr lang="en-IN" sz="2000" dirty="0">
                <a:latin typeface="Times New Roman" pitchFamily="18" charset="0"/>
                <a:cs typeface="Times New Roman" pitchFamily="18" charset="0"/>
              </a:rPr>
              <a:t>Generate deep contextual feature representation at bottleneck</a:t>
            </a:r>
          </a:p>
          <a:p>
            <a:r>
              <a:rPr lang="en-IN" sz="2000" dirty="0">
                <a:latin typeface="Times New Roman" pitchFamily="18" charset="0"/>
                <a:cs typeface="Times New Roman" pitchFamily="18" charset="0"/>
              </a:rPr>
              <a:t>Apply MLP projection to encoder outputs</a:t>
            </a:r>
          </a:p>
          <a:p>
            <a:r>
              <a:rPr lang="en-IN" sz="2000" dirty="0">
                <a:latin typeface="Times New Roman" pitchFamily="18" charset="0"/>
                <a:cs typeface="Times New Roman" pitchFamily="18" charset="0"/>
              </a:rPr>
              <a:t>Perform </a:t>
            </a:r>
            <a:r>
              <a:rPr lang="en-IN" sz="2000" dirty="0" err="1">
                <a:latin typeface="Times New Roman" pitchFamily="18" charset="0"/>
                <a:cs typeface="Times New Roman" pitchFamily="18" charset="0"/>
              </a:rPr>
              <a:t>upsampling</a:t>
            </a:r>
            <a:r>
              <a:rPr lang="en-IN" sz="2000" dirty="0">
                <a:latin typeface="Times New Roman" pitchFamily="18" charset="0"/>
                <a:cs typeface="Times New Roman" pitchFamily="18" charset="0"/>
              </a:rPr>
              <a:t> and fuse multi-scale features from all stages</a:t>
            </a:r>
          </a:p>
          <a:p>
            <a:r>
              <a:rPr lang="en-IN" sz="2000" dirty="0">
                <a:latin typeface="Times New Roman" pitchFamily="18" charset="0"/>
                <a:cs typeface="Times New Roman" pitchFamily="18" charset="0"/>
              </a:rPr>
              <a:t>Refine features using lightweight decoder</a:t>
            </a:r>
          </a:p>
          <a:p>
            <a:r>
              <a:rPr lang="en-IN" sz="2000" dirty="0">
                <a:latin typeface="Times New Roman" pitchFamily="18" charset="0"/>
                <a:cs typeface="Times New Roman" pitchFamily="18" charset="0"/>
              </a:rPr>
              <a:t>Apply 1×1 convolution + sigmoid activation to produce binary mask</a:t>
            </a:r>
          </a:p>
          <a:p>
            <a:r>
              <a:rPr lang="en-IN" sz="2000" dirty="0">
                <a:latin typeface="Times New Roman" pitchFamily="18" charset="0"/>
                <a:cs typeface="Times New Roman" pitchFamily="18" charset="0"/>
              </a:rPr>
              <a:t>Generate final segmentation output (256×256×1)</a:t>
            </a:r>
          </a:p>
          <a:p>
            <a:r>
              <a:rPr lang="en-IN" sz="2000" dirty="0">
                <a:latin typeface="Times New Roman" pitchFamily="18" charset="0"/>
                <a:cs typeface="Times New Roman" pitchFamily="18" charset="0"/>
              </a:rPr>
              <a:t>Train model using Binary Cross-Entropy loss and Adam optimizer</a:t>
            </a:r>
          </a:p>
          <a:p>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060027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32" y="260648"/>
            <a:ext cx="9202579" cy="6408712"/>
          </a:xfrm>
        </p:spPr>
        <p:txBody>
          <a:bodyPr>
            <a:normAutofit fontScale="92500" lnSpcReduction="10000"/>
          </a:bodyPr>
          <a:lstStyle/>
          <a:p>
            <a:pPr marL="0" indent="0">
              <a:buNone/>
            </a:pPr>
            <a:r>
              <a:rPr lang="en-IN" sz="2000" b="1" dirty="0">
                <a:latin typeface="Times New Roman" pitchFamily="18" charset="0"/>
                <a:cs typeface="Times New Roman" pitchFamily="18" charset="0"/>
              </a:rPr>
              <a:t>Algorithm</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SegFormer</a:t>
            </a:r>
            <a:r>
              <a:rPr lang="en-IN" sz="2000" dirty="0">
                <a:latin typeface="Times New Roman" pitchFamily="18" charset="0"/>
                <a:cs typeface="Times New Roman" pitchFamily="18" charset="0"/>
              </a:rPr>
              <a:t> for Landslide Segmentation</a:t>
            </a:r>
          </a:p>
          <a:p>
            <a:pPr marL="0" indent="0">
              <a:buNone/>
            </a:pPr>
            <a:r>
              <a:rPr lang="en-IN" sz="2000" b="1" dirty="0">
                <a:latin typeface="Times New Roman" pitchFamily="18" charset="0"/>
                <a:cs typeface="Times New Roman" pitchFamily="18" charset="0"/>
              </a:rPr>
              <a:t>Input: </a:t>
            </a:r>
            <a:r>
              <a:rPr lang="en-IN" sz="2000" dirty="0">
                <a:latin typeface="Times New Roman" pitchFamily="18" charset="0"/>
                <a:cs typeface="Times New Roman" pitchFamily="18" charset="0"/>
              </a:rPr>
              <a:t>Satellite image (256×256×3)</a:t>
            </a:r>
            <a:br>
              <a:rPr lang="en-IN" sz="2000" dirty="0">
                <a:latin typeface="Times New Roman" pitchFamily="18" charset="0"/>
                <a:cs typeface="Times New Roman" pitchFamily="18" charset="0"/>
              </a:rPr>
            </a:br>
            <a:r>
              <a:rPr lang="en-IN" sz="2000" b="1" dirty="0">
                <a:latin typeface="Times New Roman" pitchFamily="18" charset="0"/>
                <a:cs typeface="Times New Roman" pitchFamily="18" charset="0"/>
              </a:rPr>
              <a:t>Output: </a:t>
            </a:r>
            <a:r>
              <a:rPr lang="en-IN" sz="2000" dirty="0">
                <a:latin typeface="Times New Roman" pitchFamily="18" charset="0"/>
                <a:cs typeface="Times New Roman" pitchFamily="18" charset="0"/>
              </a:rPr>
              <a:t>Binary mask (256×256) of landslide </a:t>
            </a:r>
            <a:r>
              <a:rPr lang="en-IN" sz="2000" dirty="0" smtClean="0">
                <a:latin typeface="Times New Roman" pitchFamily="18" charset="0"/>
                <a:cs typeface="Times New Roman" pitchFamily="18" charset="0"/>
              </a:rPr>
              <a:t>regions</a:t>
            </a:r>
          </a:p>
          <a:p>
            <a:pPr marL="0" indent="0">
              <a:buNone/>
            </a:pPr>
            <a:r>
              <a:rPr lang="en-IN" sz="2000" b="1" dirty="0" smtClean="0">
                <a:latin typeface="Times New Roman" pitchFamily="18" charset="0"/>
                <a:cs typeface="Times New Roman" pitchFamily="18" charset="0"/>
              </a:rPr>
              <a:t>Steps:</a:t>
            </a:r>
          </a:p>
          <a:p>
            <a:r>
              <a:rPr lang="en-IN" sz="2000" dirty="0" smtClean="0">
                <a:latin typeface="Times New Roman" pitchFamily="18" charset="0"/>
                <a:cs typeface="Times New Roman" pitchFamily="18" charset="0"/>
              </a:rPr>
              <a:t>Apply </a:t>
            </a:r>
            <a:r>
              <a:rPr lang="en-IN" sz="2000" dirty="0">
                <a:latin typeface="Times New Roman" pitchFamily="18" charset="0"/>
                <a:cs typeface="Times New Roman" pitchFamily="18" charset="0"/>
              </a:rPr>
              <a:t>Convolutional layers (</a:t>
            </a:r>
            <a:r>
              <a:rPr lang="en-IN" sz="2000" dirty="0" err="1">
                <a:latin typeface="Times New Roman" pitchFamily="18" charset="0"/>
                <a:cs typeface="Times New Roman" pitchFamily="18" charset="0"/>
              </a:rPr>
              <a:t>Conv</a:t>
            </a:r>
            <a:r>
              <a:rPr lang="en-IN" sz="2000" dirty="0">
                <a:latin typeface="Times New Roman" pitchFamily="18" charset="0"/>
                <a:cs typeface="Times New Roman" pitchFamily="18" charset="0"/>
              </a:rPr>
              <a:t> → </a:t>
            </a:r>
            <a:r>
              <a:rPr lang="en-IN" sz="2000" dirty="0" err="1">
                <a:latin typeface="Times New Roman" pitchFamily="18" charset="0"/>
                <a:cs typeface="Times New Roman" pitchFamily="18" charset="0"/>
              </a:rPr>
              <a:t>ReLU</a:t>
            </a:r>
            <a:r>
              <a:rPr lang="en-IN" sz="2000" dirty="0">
                <a:latin typeface="Times New Roman" pitchFamily="18" charset="0"/>
                <a:cs typeface="Times New Roman" pitchFamily="18" charset="0"/>
              </a:rPr>
              <a:t> → Pooling) to extract local spatial features</a:t>
            </a:r>
          </a:p>
          <a:p>
            <a:r>
              <a:rPr lang="en-IN" sz="2000" dirty="0">
                <a:latin typeface="Times New Roman" pitchFamily="18" charset="0"/>
                <a:cs typeface="Times New Roman" pitchFamily="18" charset="0"/>
              </a:rPr>
              <a:t>Generate multi-level feature maps from encoder</a:t>
            </a:r>
          </a:p>
          <a:p>
            <a:r>
              <a:rPr lang="en-IN" sz="2000" dirty="0">
                <a:latin typeface="Times New Roman" pitchFamily="18" charset="0"/>
                <a:cs typeface="Times New Roman" pitchFamily="18" charset="0"/>
              </a:rPr>
              <a:t>Apply </a:t>
            </a:r>
            <a:r>
              <a:rPr lang="en-IN" sz="2000" dirty="0" err="1">
                <a:latin typeface="Times New Roman" pitchFamily="18" charset="0"/>
                <a:cs typeface="Times New Roman" pitchFamily="18" charset="0"/>
              </a:rPr>
              <a:t>MobileViT</a:t>
            </a:r>
            <a:r>
              <a:rPr lang="en-IN" sz="2000" dirty="0">
                <a:latin typeface="Times New Roman" pitchFamily="18" charset="0"/>
                <a:cs typeface="Times New Roman" pitchFamily="18" charset="0"/>
              </a:rPr>
              <a:t> Blocks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Perform local feature extraction using convolutions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Convert feature maps into sequences (flattening)</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Apply lightweight multi-head self-attention to capture global dependencies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Use feed-forward layers to refine features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Reshape sequence back to spatial feature maps</a:t>
            </a:r>
          </a:p>
          <a:p>
            <a:r>
              <a:rPr lang="en-IN" sz="2000" dirty="0">
                <a:latin typeface="Times New Roman" pitchFamily="18" charset="0"/>
                <a:cs typeface="Times New Roman" pitchFamily="18" charset="0"/>
              </a:rPr>
              <a:t>Create bottleneck representation combining local and global features</a:t>
            </a:r>
          </a:p>
          <a:p>
            <a:r>
              <a:rPr lang="en-IN" sz="2000" dirty="0">
                <a:latin typeface="Times New Roman" pitchFamily="18" charset="0"/>
                <a:cs typeface="Times New Roman" pitchFamily="18" charset="0"/>
              </a:rPr>
              <a:t>Perform decoder operations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Upsampling</a:t>
            </a:r>
            <a:r>
              <a:rPr lang="en-IN" sz="2000" dirty="0">
                <a:latin typeface="Times New Roman" pitchFamily="18" charset="0"/>
                <a:cs typeface="Times New Roman" pitchFamily="18" charset="0"/>
              </a:rPr>
              <a:t> using Conv2DTranspose</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Fuse encoder features using skip connections</a:t>
            </a:r>
            <a:br>
              <a:rPr lang="en-IN" sz="2000" dirty="0">
                <a:latin typeface="Times New Roman" pitchFamily="18" charset="0"/>
                <a:cs typeface="Times New Roman" pitchFamily="18" charset="0"/>
              </a:rPr>
            </a:br>
            <a:r>
              <a:rPr lang="en-IN" sz="2000" dirty="0">
                <a:latin typeface="Times New Roman" pitchFamily="18" charset="0"/>
                <a:cs typeface="Times New Roman" pitchFamily="18" charset="0"/>
              </a:rPr>
              <a:t>– Restore spatial resolution progressively</a:t>
            </a:r>
          </a:p>
          <a:p>
            <a:r>
              <a:rPr lang="en-IN" sz="2000" dirty="0">
                <a:latin typeface="Times New Roman" pitchFamily="18" charset="0"/>
                <a:cs typeface="Times New Roman" pitchFamily="18" charset="0"/>
              </a:rPr>
              <a:t>Apply 1×1 convolution + sigmoid activation</a:t>
            </a:r>
          </a:p>
          <a:p>
            <a:r>
              <a:rPr lang="en-IN" sz="2000" dirty="0">
                <a:latin typeface="Times New Roman" pitchFamily="18" charset="0"/>
                <a:cs typeface="Times New Roman" pitchFamily="18" charset="0"/>
              </a:rPr>
              <a:t>Generate final binary segmentation mask (256×256×1)</a:t>
            </a:r>
          </a:p>
          <a:p>
            <a:r>
              <a:rPr lang="en-IN" sz="2000" dirty="0">
                <a:latin typeface="Times New Roman" pitchFamily="18" charset="0"/>
                <a:cs typeface="Times New Roman" pitchFamily="18" charset="0"/>
              </a:rPr>
              <a:t>Train model using Binary Cross-Entropy loss and Adam </a:t>
            </a:r>
            <a:r>
              <a:rPr lang="en-IN" sz="2000" dirty="0" smtClean="0">
                <a:latin typeface="Times New Roman" pitchFamily="18" charset="0"/>
                <a:cs typeface="Times New Roman" pitchFamily="18" charset="0"/>
              </a:rPr>
              <a:t>optimizer</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707496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272" y="145624"/>
            <a:ext cx="9711531" cy="806450"/>
          </a:xfrm>
        </p:spPr>
        <p:txBody>
          <a:bodyPr>
            <a:normAutofit/>
          </a:bodyPr>
          <a:lstStyle/>
          <a:p>
            <a:r>
              <a:rPr lang="en-IN" sz="2800" b="1" dirty="0">
                <a:latin typeface="Times New Roman" pitchFamily="18" charset="0"/>
                <a:cs typeface="Times New Roman" pitchFamily="18" charset="0"/>
              </a:rPr>
              <a:t>ARCHITECTURE DIAGRAM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87500"/>
            <a:ext cx="9083675" cy="387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7337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32" y="980728"/>
            <a:ext cx="9202579" cy="6048671"/>
          </a:xfrm>
        </p:spPr>
        <p:txBody>
          <a:bodyPr>
            <a:normAutofit/>
          </a:bodyPr>
          <a:lstStyle/>
          <a:p>
            <a:pPr marL="0" indent="0">
              <a:buNone/>
            </a:pPr>
            <a:r>
              <a:rPr lang="en-IN" sz="2200" b="1" dirty="0" smtClean="0">
                <a:latin typeface="Times New Roman" pitchFamily="18" charset="0"/>
                <a:cs typeface="Times New Roman" pitchFamily="18" charset="0"/>
              </a:rPr>
              <a:t>Step 1:Dataset Collection</a:t>
            </a:r>
            <a:r>
              <a:rPr lang="en-IN" sz="2200" dirty="0" smtClean="0">
                <a:latin typeface="Times New Roman" pitchFamily="18" charset="0"/>
                <a:cs typeface="Times New Roman" pitchFamily="18" charset="0"/>
              </a:rPr>
              <a:t> </a:t>
            </a:r>
          </a:p>
          <a:p>
            <a:r>
              <a:rPr lang="en-IN" sz="2200" dirty="0" smtClean="0">
                <a:latin typeface="Times New Roman" pitchFamily="18" charset="0"/>
                <a:cs typeface="Times New Roman" pitchFamily="18" charset="0"/>
              </a:rPr>
              <a:t>Use Landslide4Sense dataset which contains satellite images and corresponding masks. </a:t>
            </a:r>
          </a:p>
          <a:p>
            <a:pPr marL="0" indent="0">
              <a:buNone/>
            </a:pPr>
            <a:r>
              <a:rPr lang="en-IN" sz="2200" b="1" dirty="0" smtClean="0">
                <a:latin typeface="Times New Roman" pitchFamily="18" charset="0"/>
                <a:cs typeface="Times New Roman" pitchFamily="18" charset="0"/>
              </a:rPr>
              <a:t>Step 2: Data </a:t>
            </a:r>
            <a:r>
              <a:rPr lang="en-IN" sz="2200" b="1" dirty="0" err="1" smtClean="0">
                <a:latin typeface="Times New Roman" pitchFamily="18" charset="0"/>
                <a:cs typeface="Times New Roman" pitchFamily="18" charset="0"/>
              </a:rPr>
              <a:t>Preprocessing</a:t>
            </a:r>
            <a:r>
              <a:rPr lang="en-IN" sz="2200" dirty="0" smtClean="0">
                <a:latin typeface="Times New Roman" pitchFamily="18" charset="0"/>
                <a:cs typeface="Times New Roman" pitchFamily="18" charset="0"/>
              </a:rPr>
              <a:t> </a:t>
            </a:r>
          </a:p>
          <a:p>
            <a:r>
              <a:rPr lang="en-IN" sz="2200" dirty="0" smtClean="0">
                <a:latin typeface="Times New Roman" pitchFamily="18" charset="0"/>
                <a:cs typeface="Times New Roman" pitchFamily="18" charset="0"/>
              </a:rPr>
              <a:t>Resize images to 256×256 </a:t>
            </a:r>
          </a:p>
          <a:p>
            <a:r>
              <a:rPr lang="en-IN" sz="2200" dirty="0" smtClean="0">
                <a:latin typeface="Times New Roman" pitchFamily="18" charset="0"/>
                <a:cs typeface="Times New Roman" pitchFamily="18" charset="0"/>
              </a:rPr>
              <a:t>Normalize pixel values </a:t>
            </a:r>
          </a:p>
          <a:p>
            <a:r>
              <a:rPr lang="en-IN" sz="2200" dirty="0" smtClean="0">
                <a:latin typeface="Times New Roman" pitchFamily="18" charset="0"/>
                <a:cs typeface="Times New Roman" pitchFamily="18" charset="0"/>
              </a:rPr>
              <a:t>Apply data augmentation</a:t>
            </a:r>
          </a:p>
          <a:p>
            <a:pPr marL="0" indent="0">
              <a:buNone/>
            </a:pPr>
            <a:r>
              <a:rPr lang="en-IN" sz="2200" b="1" dirty="0" smtClean="0">
                <a:latin typeface="Times New Roman" pitchFamily="18" charset="0"/>
                <a:cs typeface="Times New Roman" pitchFamily="18" charset="0"/>
              </a:rPr>
              <a:t>Step 3: Build the Model</a:t>
            </a:r>
            <a:r>
              <a:rPr lang="en-IN" sz="2200" dirty="0" smtClean="0">
                <a:latin typeface="Times New Roman" pitchFamily="18" charset="0"/>
                <a:cs typeface="Times New Roman" pitchFamily="18" charset="0"/>
              </a:rPr>
              <a:t> </a:t>
            </a:r>
          </a:p>
          <a:p>
            <a:r>
              <a:rPr lang="en-IN" sz="2200" dirty="0" smtClean="0">
                <a:latin typeface="Times New Roman" pitchFamily="18" charset="0"/>
                <a:cs typeface="Times New Roman" pitchFamily="18" charset="0"/>
              </a:rPr>
              <a:t>Construct </a:t>
            </a:r>
            <a:r>
              <a:rPr lang="en-IN" sz="2200" dirty="0">
                <a:latin typeface="Times New Roman" pitchFamily="18" charset="0"/>
                <a:cs typeface="Times New Roman" pitchFamily="18" charset="0"/>
              </a:rPr>
              <a:t>transformer-based architectures: </a:t>
            </a:r>
            <a:r>
              <a:rPr lang="en-IN" sz="2200" dirty="0" err="1">
                <a:latin typeface="Times New Roman" pitchFamily="18" charset="0"/>
                <a:cs typeface="Times New Roman" pitchFamily="18" charset="0"/>
              </a:rPr>
              <a:t>SegFormer</a:t>
            </a:r>
            <a:r>
              <a:rPr lang="en-IN" sz="2200" dirty="0">
                <a:latin typeface="Times New Roman" pitchFamily="18" charset="0"/>
                <a:cs typeface="Times New Roman" pitchFamily="18" charset="0"/>
              </a:rPr>
              <a:t> and </a:t>
            </a:r>
            <a:r>
              <a:rPr lang="en-IN" sz="2200" dirty="0" err="1">
                <a:latin typeface="Times New Roman" pitchFamily="18" charset="0"/>
                <a:cs typeface="Times New Roman" pitchFamily="18" charset="0"/>
              </a:rPr>
              <a:t>MobileViT</a:t>
            </a:r>
            <a:r>
              <a:rPr lang="en-IN" sz="2200" dirty="0">
                <a:latin typeface="Times New Roman" pitchFamily="18" charset="0"/>
                <a:cs typeface="Times New Roman" pitchFamily="18" charset="0"/>
              </a:rPr>
              <a:t> </a:t>
            </a:r>
          </a:p>
          <a:p>
            <a:r>
              <a:rPr lang="en-IN" sz="2200" dirty="0">
                <a:latin typeface="Times New Roman" pitchFamily="18" charset="0"/>
                <a:cs typeface="Times New Roman" pitchFamily="18" charset="0"/>
              </a:rPr>
              <a:t>Configure encoder–decoder structure for semantic segmentation </a:t>
            </a:r>
          </a:p>
          <a:p>
            <a:r>
              <a:rPr lang="en-IN" sz="2200" dirty="0">
                <a:latin typeface="Times New Roman" pitchFamily="18" charset="0"/>
                <a:cs typeface="Times New Roman" pitchFamily="18" charset="0"/>
              </a:rPr>
              <a:t>Initialize model parameters and input shape (256×256×3) </a:t>
            </a:r>
          </a:p>
          <a:p>
            <a:r>
              <a:rPr lang="en-IN" sz="2200" dirty="0">
                <a:latin typeface="Times New Roman" pitchFamily="18" charset="0"/>
                <a:cs typeface="Times New Roman" pitchFamily="18" charset="0"/>
              </a:rPr>
              <a:t>Integrate transformer blocks to capture global context and spatial features </a:t>
            </a:r>
            <a:endParaRPr lang="en-IN" sz="2200" dirty="0" smtClean="0">
              <a:latin typeface="Times New Roman" pitchFamily="18" charset="0"/>
              <a:cs typeface="Times New Roman" pitchFamily="18" charset="0"/>
            </a:endParaRPr>
          </a:p>
          <a:p>
            <a:pPr marL="0" indent="0">
              <a:buNone/>
            </a:pPr>
            <a:endParaRPr lang="en-IN" sz="2200" dirty="0">
              <a:latin typeface="Times New Roman" pitchFamily="18" charset="0"/>
              <a:cs typeface="Times New Roman" pitchFamily="18" charset="0"/>
            </a:endParaRPr>
          </a:p>
        </p:txBody>
      </p:sp>
      <p:sp>
        <p:nvSpPr>
          <p:cNvPr id="4" name="Title 1"/>
          <p:cNvSpPr>
            <a:spLocks noGrp="1"/>
          </p:cNvSpPr>
          <p:nvPr>
            <p:ph type="title"/>
          </p:nvPr>
        </p:nvSpPr>
        <p:spPr>
          <a:xfrm>
            <a:off x="495281" y="104775"/>
            <a:ext cx="8819138" cy="704850"/>
          </a:xfrm>
        </p:spPr>
        <p:txBody>
          <a:bodyPr>
            <a:normAutofit/>
          </a:bodyPr>
          <a:lstStyle/>
          <a:p>
            <a:r>
              <a:rPr lang="en-US" sz="2800" b="1" dirty="0" smtClean="0">
                <a:latin typeface="Times New Roman" pitchFamily="18" charset="0"/>
                <a:cs typeface="Times New Roman" pitchFamily="18" charset="0"/>
              </a:rPr>
              <a:t>IMPLEMENTATION</a:t>
            </a:r>
            <a:endParaRPr lang="en-IN"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6419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32" y="332656"/>
            <a:ext cx="9202579" cy="5328592"/>
          </a:xfrm>
        </p:spPr>
        <p:txBody>
          <a:bodyPr>
            <a:normAutofit/>
          </a:bodyPr>
          <a:lstStyle/>
          <a:p>
            <a:pPr marL="0" indent="0">
              <a:buNone/>
            </a:pPr>
            <a:r>
              <a:rPr lang="en-IN" sz="2200" b="1" dirty="0">
                <a:latin typeface="Times New Roman" pitchFamily="18" charset="0"/>
                <a:cs typeface="Times New Roman" pitchFamily="18" charset="0"/>
              </a:rPr>
              <a:t>Step 4: Model Training</a:t>
            </a:r>
            <a:r>
              <a:rPr lang="en-IN" sz="2200" dirty="0">
                <a:latin typeface="Times New Roman" pitchFamily="18" charset="0"/>
                <a:cs typeface="Times New Roman" pitchFamily="18" charset="0"/>
              </a:rPr>
              <a:t> </a:t>
            </a:r>
          </a:p>
          <a:p>
            <a:r>
              <a:rPr lang="en-IN" sz="2200" dirty="0">
                <a:latin typeface="Times New Roman" pitchFamily="18" charset="0"/>
                <a:cs typeface="Times New Roman" pitchFamily="18" charset="0"/>
              </a:rPr>
              <a:t>Train models using </a:t>
            </a:r>
            <a:r>
              <a:rPr lang="en-IN" sz="2200" dirty="0" err="1">
                <a:latin typeface="Times New Roman" pitchFamily="18" charset="0"/>
                <a:cs typeface="Times New Roman" pitchFamily="18" charset="0"/>
              </a:rPr>
              <a:t>preprocessed</a:t>
            </a:r>
            <a:r>
              <a:rPr lang="en-IN" sz="2200" dirty="0">
                <a:latin typeface="Times New Roman" pitchFamily="18" charset="0"/>
                <a:cs typeface="Times New Roman" pitchFamily="18" charset="0"/>
              </a:rPr>
              <a:t> images and masks using training dataset  </a:t>
            </a:r>
          </a:p>
          <a:p>
            <a:r>
              <a:rPr lang="en-IN" sz="2200" dirty="0">
                <a:latin typeface="Times New Roman" pitchFamily="18" charset="0"/>
                <a:cs typeface="Times New Roman" pitchFamily="18" charset="0"/>
              </a:rPr>
              <a:t>Use Binary Cross-Entropy loss and Adam optimizer </a:t>
            </a:r>
            <a:endParaRPr lang="en-IN" sz="2200" b="1" dirty="0" smtClean="0">
              <a:latin typeface="Times New Roman" pitchFamily="18" charset="0"/>
              <a:cs typeface="Times New Roman" pitchFamily="18" charset="0"/>
            </a:endParaRPr>
          </a:p>
          <a:p>
            <a:pPr marL="0" indent="0">
              <a:buNone/>
            </a:pPr>
            <a:r>
              <a:rPr lang="en-IN" sz="2200" b="1" dirty="0" smtClean="0">
                <a:latin typeface="Times New Roman" pitchFamily="18" charset="0"/>
                <a:cs typeface="Times New Roman" pitchFamily="18" charset="0"/>
              </a:rPr>
              <a:t>Step </a:t>
            </a:r>
            <a:r>
              <a:rPr lang="en-IN" sz="2200" b="1" dirty="0">
                <a:latin typeface="Times New Roman" pitchFamily="18" charset="0"/>
                <a:cs typeface="Times New Roman" pitchFamily="18" charset="0"/>
              </a:rPr>
              <a:t>5: Prediction &amp; Segmentation</a:t>
            </a:r>
            <a:r>
              <a:rPr lang="en-IN" sz="2200" dirty="0">
                <a:latin typeface="Times New Roman" pitchFamily="18" charset="0"/>
                <a:cs typeface="Times New Roman" pitchFamily="18" charset="0"/>
              </a:rPr>
              <a:t> </a:t>
            </a:r>
          </a:p>
          <a:p>
            <a:r>
              <a:rPr lang="en-IN" sz="2200" dirty="0">
                <a:latin typeface="Times New Roman" pitchFamily="18" charset="0"/>
                <a:cs typeface="Times New Roman" pitchFamily="18" charset="0"/>
              </a:rPr>
              <a:t>Generate pixel-wise segmentation masks (landslide </a:t>
            </a:r>
            <a:r>
              <a:rPr lang="en-IN" sz="2200" dirty="0" err="1">
                <a:latin typeface="Times New Roman" pitchFamily="18" charset="0"/>
                <a:cs typeface="Times New Roman" pitchFamily="18" charset="0"/>
              </a:rPr>
              <a:t>vs</a:t>
            </a:r>
            <a:r>
              <a:rPr lang="en-IN" sz="2200" dirty="0">
                <a:latin typeface="Times New Roman" pitchFamily="18" charset="0"/>
                <a:cs typeface="Times New Roman" pitchFamily="18" charset="0"/>
              </a:rPr>
              <a:t> non-landslide</a:t>
            </a:r>
            <a:r>
              <a:rPr lang="en-IN" sz="2200" dirty="0" smtClean="0">
                <a:latin typeface="Times New Roman" pitchFamily="18" charset="0"/>
                <a:cs typeface="Times New Roman" pitchFamily="18" charset="0"/>
              </a:rPr>
              <a:t>)</a:t>
            </a:r>
          </a:p>
          <a:p>
            <a:r>
              <a:rPr lang="en-IN" sz="2200" dirty="0">
                <a:latin typeface="Times New Roman" pitchFamily="18" charset="0"/>
                <a:cs typeface="Times New Roman" pitchFamily="18" charset="0"/>
              </a:rPr>
              <a:t>Identify landslide and non-landslide regions</a:t>
            </a:r>
            <a:r>
              <a:rPr lang="en-IN" sz="2200" dirty="0" smtClean="0">
                <a:latin typeface="Times New Roman" pitchFamily="18" charset="0"/>
                <a:cs typeface="Times New Roman" pitchFamily="18" charset="0"/>
              </a:rPr>
              <a:t> </a:t>
            </a:r>
            <a:endParaRPr lang="en-IN" sz="2200" dirty="0">
              <a:latin typeface="Times New Roman" pitchFamily="18" charset="0"/>
              <a:cs typeface="Times New Roman" pitchFamily="18" charset="0"/>
            </a:endParaRPr>
          </a:p>
          <a:p>
            <a:pPr marL="0" indent="0">
              <a:buNone/>
            </a:pPr>
            <a:r>
              <a:rPr lang="en-IN" sz="2200" b="1" dirty="0">
                <a:latin typeface="Times New Roman" pitchFamily="18" charset="0"/>
                <a:cs typeface="Times New Roman" pitchFamily="18" charset="0"/>
              </a:rPr>
              <a:t>Step 6: Performance Evaluation</a:t>
            </a:r>
            <a:r>
              <a:rPr lang="en-IN" sz="2200" dirty="0">
                <a:latin typeface="Times New Roman" pitchFamily="18" charset="0"/>
                <a:cs typeface="Times New Roman" pitchFamily="18" charset="0"/>
              </a:rPr>
              <a:t> </a:t>
            </a:r>
          </a:p>
          <a:p>
            <a:r>
              <a:rPr lang="en-IN" sz="2200" dirty="0">
                <a:latin typeface="Times New Roman" pitchFamily="18" charset="0"/>
                <a:cs typeface="Times New Roman" pitchFamily="18" charset="0"/>
              </a:rPr>
              <a:t>Evaluate using Accuracy, Precision, Recall, F1-score, </a:t>
            </a:r>
            <a:r>
              <a:rPr lang="en-IN" sz="2200" dirty="0" err="1">
                <a:latin typeface="Times New Roman" pitchFamily="18" charset="0"/>
                <a:cs typeface="Times New Roman" pitchFamily="18" charset="0"/>
              </a:rPr>
              <a:t>IoU</a:t>
            </a:r>
            <a:r>
              <a:rPr lang="en-IN" sz="2200" dirty="0">
                <a:latin typeface="Times New Roman" pitchFamily="18" charset="0"/>
                <a:cs typeface="Times New Roman" pitchFamily="18" charset="0"/>
              </a:rPr>
              <a:t>, Dice </a:t>
            </a:r>
            <a:r>
              <a:rPr lang="en-IN" sz="2200" dirty="0" smtClean="0">
                <a:latin typeface="Times New Roman" pitchFamily="18" charset="0"/>
                <a:cs typeface="Times New Roman" pitchFamily="18" charset="0"/>
              </a:rPr>
              <a:t>Coefficient</a:t>
            </a:r>
            <a:endParaRPr lang="en-IN" sz="2200" dirty="0">
              <a:latin typeface="Times New Roman" pitchFamily="18" charset="0"/>
              <a:cs typeface="Times New Roman" pitchFamily="18" charset="0"/>
            </a:endParaRPr>
          </a:p>
          <a:p>
            <a:pPr marL="0" indent="0">
              <a:buNone/>
            </a:pPr>
            <a:r>
              <a:rPr lang="en-IN" sz="2200" b="1" dirty="0">
                <a:latin typeface="Times New Roman" pitchFamily="18" charset="0"/>
                <a:cs typeface="Times New Roman" pitchFamily="18" charset="0"/>
              </a:rPr>
              <a:t>Step 7: Area Calculation</a:t>
            </a:r>
            <a:r>
              <a:rPr lang="en-IN" sz="2200" dirty="0">
                <a:latin typeface="Times New Roman" pitchFamily="18" charset="0"/>
                <a:cs typeface="Times New Roman" pitchFamily="18" charset="0"/>
              </a:rPr>
              <a:t> </a:t>
            </a:r>
          </a:p>
          <a:p>
            <a:r>
              <a:rPr lang="en-IN" sz="2200" dirty="0">
                <a:latin typeface="Times New Roman" pitchFamily="18" charset="0"/>
                <a:cs typeface="Times New Roman" pitchFamily="18" charset="0"/>
              </a:rPr>
              <a:t>Compute landslide area from predicted masks (pixel counting</a:t>
            </a:r>
            <a:r>
              <a:rPr lang="en-IN" sz="2200" dirty="0" smtClean="0">
                <a:latin typeface="Times New Roman" pitchFamily="18" charset="0"/>
                <a:cs typeface="Times New Roman" pitchFamily="18" charset="0"/>
              </a:rPr>
              <a:t>)</a:t>
            </a:r>
            <a:endParaRPr lang="en-IN" sz="2200" dirty="0">
              <a:latin typeface="Times New Roman" pitchFamily="18" charset="0"/>
              <a:cs typeface="Times New Roman" pitchFamily="18" charset="0"/>
            </a:endParaRPr>
          </a:p>
          <a:p>
            <a:pPr marL="0" indent="0">
              <a:buNone/>
            </a:pPr>
            <a:r>
              <a:rPr lang="en-IN" sz="2200" b="1" dirty="0">
                <a:latin typeface="Times New Roman" pitchFamily="18" charset="0"/>
                <a:cs typeface="Times New Roman" pitchFamily="18" charset="0"/>
              </a:rPr>
              <a:t>Step 8: Severity </a:t>
            </a:r>
            <a:r>
              <a:rPr lang="en-IN" sz="2200" b="1" dirty="0" smtClean="0">
                <a:latin typeface="Times New Roman" pitchFamily="18" charset="0"/>
                <a:cs typeface="Times New Roman" pitchFamily="18" charset="0"/>
              </a:rPr>
              <a:t>Classification</a:t>
            </a:r>
            <a:r>
              <a:rPr lang="en-IN" sz="2200" dirty="0" smtClean="0">
                <a:latin typeface="Times New Roman" pitchFamily="18" charset="0"/>
                <a:cs typeface="Times New Roman" pitchFamily="18" charset="0"/>
              </a:rPr>
              <a:t> </a:t>
            </a:r>
            <a:endParaRPr lang="en-IN" sz="2200" dirty="0">
              <a:latin typeface="Times New Roman" pitchFamily="18" charset="0"/>
              <a:cs typeface="Times New Roman" pitchFamily="18" charset="0"/>
            </a:endParaRPr>
          </a:p>
          <a:p>
            <a:r>
              <a:rPr lang="en-IN" sz="2200" dirty="0">
                <a:latin typeface="Times New Roman" pitchFamily="18" charset="0"/>
                <a:cs typeface="Times New Roman" pitchFamily="18" charset="0"/>
              </a:rPr>
              <a:t>Classify landslides into Low, Medium, High based on area</a:t>
            </a:r>
          </a:p>
          <a:p>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1313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24" y="260648"/>
            <a:ext cx="9202579" cy="648072"/>
          </a:xfrm>
        </p:spPr>
        <p:txBody>
          <a:bodyPr>
            <a:normAutofit/>
          </a:bodyPr>
          <a:lstStyle/>
          <a:p>
            <a:r>
              <a:rPr lang="en-US" sz="3000" b="1" dirty="0" smtClean="0">
                <a:latin typeface="Times New Roman" pitchFamily="18" charset="0"/>
                <a:cs typeface="Times New Roman" pitchFamily="18" charset="0"/>
              </a:rPr>
              <a:t>RESULTS</a:t>
            </a:r>
            <a:endParaRPr lang="en-IN" sz="3000" b="1" dirty="0">
              <a:latin typeface="Times New Roman" pitchFamily="18" charset="0"/>
              <a:cs typeface="Times New Roman" pitchFamily="18" charset="0"/>
            </a:endParaRPr>
          </a:p>
        </p:txBody>
      </p:sp>
      <p:sp>
        <p:nvSpPr>
          <p:cNvPr id="8" name="TextBox 7"/>
          <p:cNvSpPr txBox="1"/>
          <p:nvPr/>
        </p:nvSpPr>
        <p:spPr>
          <a:xfrm>
            <a:off x="1872184" y="6093296"/>
            <a:ext cx="3730155" cy="369332"/>
          </a:xfrm>
          <a:prstGeom prst="rect">
            <a:avLst/>
          </a:prstGeom>
          <a:noFill/>
        </p:spPr>
        <p:txBody>
          <a:bodyPr wrap="square" rtlCol="0">
            <a:spAutoFit/>
          </a:bodyPr>
          <a:lstStyle/>
          <a:p>
            <a:r>
              <a:rPr lang="en-IN" i="1" dirty="0" smtClean="0">
                <a:latin typeface="Times New Roman" pitchFamily="18" charset="0"/>
                <a:cs typeface="Times New Roman" pitchFamily="18" charset="0"/>
              </a:rPr>
              <a:t>Figure.1. </a:t>
            </a:r>
            <a:r>
              <a:rPr lang="en-IN" i="1" dirty="0" err="1" smtClean="0">
                <a:latin typeface="Times New Roman" pitchFamily="18" charset="0"/>
                <a:cs typeface="Times New Roman" pitchFamily="18" charset="0"/>
              </a:rPr>
              <a:t>SegFormer</a:t>
            </a:r>
            <a:r>
              <a:rPr lang="en-IN" i="1" dirty="0" smtClean="0">
                <a:latin typeface="Times New Roman" pitchFamily="18" charset="0"/>
                <a:cs typeface="Times New Roman" pitchFamily="18" charset="0"/>
              </a:rPr>
              <a:t> Model</a:t>
            </a:r>
            <a:endParaRPr lang="en-IN" i="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85" y="1340768"/>
            <a:ext cx="5832648" cy="4500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1208" y="1052736"/>
            <a:ext cx="3882119" cy="1536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4633" y="3323519"/>
            <a:ext cx="3672408" cy="3139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1208" y="2713919"/>
            <a:ext cx="2021656" cy="475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9365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144" y="188640"/>
            <a:ext cx="7488832" cy="5452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152104" y="5805264"/>
            <a:ext cx="8424936" cy="400110"/>
          </a:xfrm>
          <a:prstGeom prst="rect">
            <a:avLst/>
          </a:prstGeom>
          <a:noFill/>
        </p:spPr>
        <p:txBody>
          <a:bodyPr wrap="square" rtlCol="0">
            <a:spAutoFit/>
          </a:bodyPr>
          <a:lstStyle/>
          <a:p>
            <a:r>
              <a:rPr lang="en-IN" sz="2000" i="1" dirty="0" smtClean="0">
                <a:latin typeface="Times New Roman" pitchFamily="18" charset="0"/>
                <a:cs typeface="Times New Roman" pitchFamily="18" charset="0"/>
              </a:rPr>
              <a:t>Figure.2. Prediction</a:t>
            </a:r>
            <a:r>
              <a:rPr lang="en-IN" sz="2000" i="1" dirty="0">
                <a:latin typeface="Times New Roman" pitchFamily="18" charset="0"/>
                <a:cs typeface="Times New Roman" pitchFamily="18" charset="0"/>
              </a:rPr>
              <a:t>, Area Calculation and Severity Analysis of  </a:t>
            </a:r>
            <a:r>
              <a:rPr lang="en-IN" sz="2000" i="1" dirty="0" err="1" smtClean="0">
                <a:latin typeface="Times New Roman" pitchFamily="18" charset="0"/>
                <a:cs typeface="Times New Roman" pitchFamily="18" charset="0"/>
              </a:rPr>
              <a:t>SegFormer</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794149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0984" y="2577420"/>
            <a:ext cx="1475874" cy="372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160216" y="6165304"/>
            <a:ext cx="3882274" cy="369332"/>
          </a:xfrm>
          <a:prstGeom prst="rect">
            <a:avLst/>
          </a:prstGeom>
          <a:noFill/>
        </p:spPr>
        <p:txBody>
          <a:bodyPr wrap="square" rtlCol="0">
            <a:spAutoFit/>
          </a:bodyPr>
          <a:lstStyle/>
          <a:p>
            <a:r>
              <a:rPr lang="en-IN" i="1" dirty="0" smtClean="0">
                <a:latin typeface="Times New Roman" pitchFamily="18" charset="0"/>
                <a:cs typeface="Times New Roman" pitchFamily="18" charset="0"/>
              </a:rPr>
              <a:t>Figure.3. Mobile </a:t>
            </a:r>
            <a:r>
              <a:rPr lang="en-IN" i="1" dirty="0" err="1" smtClean="0">
                <a:latin typeface="Times New Roman" pitchFamily="18" charset="0"/>
                <a:cs typeface="Times New Roman" pitchFamily="18" charset="0"/>
              </a:rPr>
              <a:t>ViT</a:t>
            </a:r>
            <a:r>
              <a:rPr lang="en-IN" i="1" dirty="0" smtClean="0">
                <a:latin typeface="Times New Roman" pitchFamily="18" charset="0"/>
                <a:cs typeface="Times New Roman" pitchFamily="18" charset="0"/>
              </a:rPr>
              <a:t> Model</a:t>
            </a:r>
            <a:endParaRPr lang="en-IN" i="1" dirty="0">
              <a:latin typeface="Times New Roman" pitchFamily="18" charset="0"/>
              <a:cs typeface="Times New Roman" pitchFamily="18" charset="0"/>
            </a:endParaRPr>
          </a:p>
        </p:txBody>
      </p:sp>
      <p:pic>
        <p:nvPicPr>
          <p:cNvPr id="7" name="Picture 6"/>
          <p:cNvPicPr/>
          <p:nvPr/>
        </p:nvPicPr>
        <p:blipFill>
          <a:blip r:embed="rId3"/>
          <a:stretch>
            <a:fillRect/>
          </a:stretch>
        </p:blipFill>
        <p:spPr>
          <a:xfrm>
            <a:off x="216000" y="764704"/>
            <a:ext cx="5884984" cy="5184576"/>
          </a:xfrm>
          <a:prstGeom prst="rect">
            <a:avLst/>
          </a:prstGeom>
        </p:spPr>
      </p:pic>
      <p:pic>
        <p:nvPicPr>
          <p:cNvPr id="9" name="Picture 8"/>
          <p:cNvPicPr/>
          <p:nvPr/>
        </p:nvPicPr>
        <p:blipFill>
          <a:blip r:embed="rId4"/>
          <a:stretch>
            <a:fillRect/>
          </a:stretch>
        </p:blipFill>
        <p:spPr>
          <a:xfrm>
            <a:off x="6042490" y="692696"/>
            <a:ext cx="4128770" cy="1734185"/>
          </a:xfrm>
          <a:prstGeom prst="rect">
            <a:avLst/>
          </a:prstGeom>
        </p:spPr>
      </p:pic>
      <p:pic>
        <p:nvPicPr>
          <p:cNvPr id="10" name="Picture 9"/>
          <p:cNvPicPr/>
          <p:nvPr/>
        </p:nvPicPr>
        <p:blipFill>
          <a:blip r:embed="rId5"/>
          <a:stretch>
            <a:fillRect/>
          </a:stretch>
        </p:blipFill>
        <p:spPr>
          <a:xfrm>
            <a:off x="6340622" y="2979604"/>
            <a:ext cx="3532505" cy="3214370"/>
          </a:xfrm>
          <a:prstGeom prst="rect">
            <a:avLst/>
          </a:prstGeom>
        </p:spPr>
      </p:pic>
    </p:spTree>
    <p:extLst>
      <p:ext uri="{BB962C8B-B14F-4D97-AF65-F5344CB8AC3E}">
        <p14:creationId xmlns:p14="http://schemas.microsoft.com/office/powerpoint/2010/main" val="24099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582070" y="692696"/>
            <a:ext cx="7059359" cy="4699342"/>
          </a:xfrm>
          <a:prstGeom prst="rect">
            <a:avLst/>
          </a:prstGeom>
        </p:spPr>
      </p:pic>
      <p:sp>
        <p:nvSpPr>
          <p:cNvPr id="3" name="Rectangle 2"/>
          <p:cNvSpPr/>
          <p:nvPr/>
        </p:nvSpPr>
        <p:spPr>
          <a:xfrm>
            <a:off x="1582070" y="5661248"/>
            <a:ext cx="7346898" cy="369332"/>
          </a:xfrm>
          <a:prstGeom prst="rect">
            <a:avLst/>
          </a:prstGeom>
        </p:spPr>
        <p:txBody>
          <a:bodyPr wrap="square">
            <a:spAutoFit/>
          </a:bodyPr>
          <a:lstStyle/>
          <a:p>
            <a:r>
              <a:rPr lang="en-IN" i="1" dirty="0" smtClean="0">
                <a:latin typeface="Times New Roman" pitchFamily="18" charset="0"/>
                <a:cs typeface="Times New Roman" pitchFamily="18" charset="0"/>
              </a:rPr>
              <a:t>Figure.4. </a:t>
            </a:r>
            <a:r>
              <a:rPr lang="en-IN" i="1" dirty="0">
                <a:latin typeface="Times New Roman" pitchFamily="18" charset="0"/>
                <a:cs typeface="Times New Roman" pitchFamily="18" charset="0"/>
              </a:rPr>
              <a:t>Prediction, Area Calculation and Severity Analysis of </a:t>
            </a:r>
            <a:r>
              <a:rPr lang="en-IN" i="1" dirty="0" err="1">
                <a:latin typeface="Times New Roman" pitchFamily="18" charset="0"/>
                <a:cs typeface="Times New Roman" pitchFamily="18" charset="0"/>
              </a:rPr>
              <a:t>MobileViT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292243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81" y="104775"/>
            <a:ext cx="8819138" cy="704850"/>
          </a:xfrm>
        </p:spPr>
        <p:txBody>
          <a:bodyPr>
            <a:normAutofit/>
          </a:bodyPr>
          <a:lstStyle/>
          <a:p>
            <a:r>
              <a:rPr lang="en-IN" sz="2800" b="1" dirty="0" smtClean="0">
                <a:latin typeface="Times New Roman" pitchFamily="18" charset="0"/>
                <a:cs typeface="Times New Roman" pitchFamily="18" charset="0"/>
              </a:rPr>
              <a:t>RESULT ANALYSIS</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576040" y="764704"/>
            <a:ext cx="9217024" cy="5688632"/>
          </a:xfrm>
        </p:spPr>
        <p:txBody>
          <a:bodyPr>
            <a:noAutofit/>
          </a:bodyPr>
          <a:lstStyle/>
          <a:p>
            <a:pPr algn="just"/>
            <a:r>
              <a:rPr lang="en-US" sz="2200" dirty="0">
                <a:latin typeface="Times New Roman" pitchFamily="18" charset="0"/>
                <a:cs typeface="Times New Roman" pitchFamily="18" charset="0"/>
              </a:rPr>
              <a:t>High accuracy is mainly due to dominance of non-landslide pixels. </a:t>
            </a:r>
          </a:p>
          <a:p>
            <a:pPr algn="just"/>
            <a:r>
              <a:rPr lang="en-US" sz="2200" dirty="0">
                <a:latin typeface="Times New Roman" pitchFamily="18" charset="0"/>
                <a:cs typeface="Times New Roman" pitchFamily="18" charset="0"/>
              </a:rPr>
              <a:t>Lower recall occurs because landslide regions are small and irregular. </a:t>
            </a:r>
          </a:p>
          <a:p>
            <a:pPr algn="just"/>
            <a:r>
              <a:rPr lang="en-US" sz="2200" dirty="0" err="1">
                <a:latin typeface="Times New Roman" pitchFamily="18" charset="0"/>
                <a:cs typeface="Times New Roman" pitchFamily="18" charset="0"/>
              </a:rPr>
              <a:t>MobileViT</a:t>
            </a:r>
            <a:r>
              <a:rPr lang="en-US" sz="2200" dirty="0">
                <a:latin typeface="Times New Roman" pitchFamily="18" charset="0"/>
                <a:cs typeface="Times New Roman" pitchFamily="18" charset="0"/>
              </a:rPr>
              <a:t> performs better in precision due to local + global feature learning. </a:t>
            </a:r>
          </a:p>
          <a:p>
            <a:pPr algn="just"/>
            <a:r>
              <a:rPr lang="en-US" sz="2200" dirty="0" err="1">
                <a:latin typeface="Times New Roman" pitchFamily="18" charset="0"/>
                <a:cs typeface="Times New Roman" pitchFamily="18" charset="0"/>
              </a:rPr>
              <a:t>SegFormer</a:t>
            </a:r>
            <a:r>
              <a:rPr lang="en-US" sz="2200" dirty="0">
                <a:latin typeface="Times New Roman" pitchFamily="18" charset="0"/>
                <a:cs typeface="Times New Roman" pitchFamily="18" charset="0"/>
              </a:rPr>
              <a:t> shows stable performance due to strong contextual understanding. </a:t>
            </a:r>
          </a:p>
          <a:p>
            <a:pPr algn="just"/>
            <a:r>
              <a:rPr lang="en-US" sz="2200" dirty="0">
                <a:latin typeface="Times New Roman" pitchFamily="18" charset="0"/>
                <a:cs typeface="Times New Roman" pitchFamily="18" charset="0"/>
              </a:rPr>
              <a:t>Misclassification occurs in complex terrain and vegetation regions. </a:t>
            </a:r>
          </a:p>
          <a:p>
            <a:pPr algn="just"/>
            <a:r>
              <a:rPr lang="en-US" sz="2200" dirty="0">
                <a:latin typeface="Times New Roman" pitchFamily="18" charset="0"/>
                <a:cs typeface="Times New Roman" pitchFamily="18" charset="0"/>
              </a:rPr>
              <a:t>Transformer models improve segmentation by capturing long-range dependencies. </a:t>
            </a:r>
          </a:p>
          <a:p>
            <a:pPr algn="just"/>
            <a:endParaRPr lang="en-US" sz="2200" dirty="0">
              <a:latin typeface="Times New Roman" pitchFamily="18" charset="0"/>
              <a:cs typeface="Times New Roman" pitchFamily="18"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2955207005"/>
              </p:ext>
            </p:extLst>
          </p:nvPr>
        </p:nvGraphicFramePr>
        <p:xfrm>
          <a:off x="1656160" y="3933056"/>
          <a:ext cx="6804423" cy="2590800"/>
        </p:xfrm>
        <a:graphic>
          <a:graphicData uri="http://schemas.openxmlformats.org/drawingml/2006/table">
            <a:tbl>
              <a:tblPr firstRow="1" bandRow="1">
                <a:tableStyleId>{5940675A-B579-460E-94D1-54222C63F5DA}</a:tableStyleId>
              </a:tblPr>
              <a:tblGrid>
                <a:gridCol w="2268141"/>
                <a:gridCol w="2268141"/>
                <a:gridCol w="2268141"/>
              </a:tblGrid>
              <a:tr h="293752">
                <a:tc>
                  <a:txBody>
                    <a:bodyPr/>
                    <a:lstStyle/>
                    <a:p>
                      <a:r>
                        <a:rPr lang="en-IN" dirty="0" smtClean="0"/>
                        <a:t>Metric</a:t>
                      </a:r>
                      <a:endParaRPr lang="en-IN" dirty="0"/>
                    </a:p>
                  </a:txBody>
                  <a:tcPr/>
                </a:tc>
                <a:tc>
                  <a:txBody>
                    <a:bodyPr/>
                    <a:lstStyle/>
                    <a:p>
                      <a:r>
                        <a:rPr lang="en-IN" dirty="0" err="1" smtClean="0"/>
                        <a:t>Seg</a:t>
                      </a:r>
                      <a:r>
                        <a:rPr lang="en-IN" dirty="0" smtClean="0"/>
                        <a:t> Former</a:t>
                      </a:r>
                      <a:endParaRPr lang="en-IN" dirty="0"/>
                    </a:p>
                  </a:txBody>
                  <a:tcPr/>
                </a:tc>
                <a:tc>
                  <a:txBody>
                    <a:bodyPr/>
                    <a:lstStyle/>
                    <a:p>
                      <a:r>
                        <a:rPr lang="en-IN" dirty="0" smtClean="0"/>
                        <a:t>Mobile </a:t>
                      </a:r>
                      <a:r>
                        <a:rPr lang="en-IN" dirty="0" err="1" smtClean="0"/>
                        <a:t>ViT</a:t>
                      </a:r>
                      <a:endParaRPr lang="en-IN" dirty="0"/>
                    </a:p>
                  </a:txBody>
                  <a:tcPr/>
                </a:tc>
              </a:tr>
              <a:tr h="370840">
                <a:tc>
                  <a:txBody>
                    <a:bodyPr/>
                    <a:lstStyle/>
                    <a:p>
                      <a:r>
                        <a:rPr lang="en-IN" dirty="0" smtClean="0"/>
                        <a:t>Accuracy</a:t>
                      </a:r>
                      <a:endParaRPr lang="en-IN" dirty="0"/>
                    </a:p>
                  </a:txBody>
                  <a:tcPr/>
                </a:tc>
                <a:tc>
                  <a:txBody>
                    <a:bodyPr/>
                    <a:lstStyle/>
                    <a:p>
                      <a:r>
                        <a:rPr lang="en-IN" dirty="0" smtClean="0"/>
                        <a:t>0.96666</a:t>
                      </a:r>
                      <a:endParaRPr lang="en-IN" dirty="0"/>
                    </a:p>
                  </a:txBody>
                  <a:tcPr/>
                </a:tc>
                <a:tc>
                  <a:txBody>
                    <a:bodyPr/>
                    <a:lstStyle/>
                    <a:p>
                      <a:r>
                        <a:rPr lang="en-IN" dirty="0" smtClean="0"/>
                        <a:t>0.9719</a:t>
                      </a:r>
                      <a:endParaRPr lang="en-IN" dirty="0"/>
                    </a:p>
                  </a:txBody>
                  <a:tcPr/>
                </a:tc>
              </a:tr>
              <a:tr h="370840">
                <a:tc>
                  <a:txBody>
                    <a:bodyPr/>
                    <a:lstStyle/>
                    <a:p>
                      <a:r>
                        <a:rPr lang="en-IN" dirty="0" smtClean="0"/>
                        <a:t>Precision</a:t>
                      </a:r>
                      <a:endParaRPr lang="en-IN" dirty="0"/>
                    </a:p>
                  </a:txBody>
                  <a:tcPr/>
                </a:tc>
                <a:tc>
                  <a:txBody>
                    <a:bodyPr/>
                    <a:lstStyle/>
                    <a:p>
                      <a:r>
                        <a:rPr lang="en-IN" dirty="0" smtClean="0"/>
                        <a:t>0.6805</a:t>
                      </a:r>
                      <a:endParaRPr lang="en-IN" dirty="0"/>
                    </a:p>
                  </a:txBody>
                  <a:tcPr/>
                </a:tc>
                <a:tc>
                  <a:txBody>
                    <a:bodyPr/>
                    <a:lstStyle/>
                    <a:p>
                      <a:r>
                        <a:rPr lang="en-IN" dirty="0" smtClean="0"/>
                        <a:t>0.7891</a:t>
                      </a:r>
                      <a:endParaRPr lang="en-IN" dirty="0"/>
                    </a:p>
                  </a:txBody>
                  <a:tcPr/>
                </a:tc>
              </a:tr>
              <a:tr h="370840">
                <a:tc>
                  <a:txBody>
                    <a:bodyPr/>
                    <a:lstStyle/>
                    <a:p>
                      <a:r>
                        <a:rPr lang="en-IN" dirty="0" smtClean="0"/>
                        <a:t>Recall</a:t>
                      </a:r>
                      <a:endParaRPr lang="en-IN" dirty="0"/>
                    </a:p>
                  </a:txBody>
                  <a:tcPr/>
                </a:tc>
                <a:tc>
                  <a:txBody>
                    <a:bodyPr/>
                    <a:lstStyle/>
                    <a:p>
                      <a:r>
                        <a:rPr lang="en-IN" dirty="0" smtClean="0"/>
                        <a:t>0.5226</a:t>
                      </a:r>
                      <a:endParaRPr lang="en-IN" dirty="0"/>
                    </a:p>
                  </a:txBody>
                  <a:tcPr/>
                </a:tc>
                <a:tc>
                  <a:txBody>
                    <a:bodyPr/>
                    <a:lstStyle/>
                    <a:p>
                      <a:r>
                        <a:rPr lang="en-IN" dirty="0" smtClean="0"/>
                        <a:t>0.5367</a:t>
                      </a:r>
                      <a:endParaRPr lang="en-IN" dirty="0"/>
                    </a:p>
                  </a:txBody>
                  <a:tcPr/>
                </a:tc>
              </a:tr>
              <a:tr h="370840">
                <a:tc>
                  <a:txBody>
                    <a:bodyPr/>
                    <a:lstStyle/>
                    <a:p>
                      <a:r>
                        <a:rPr lang="en-IN" dirty="0" smtClean="0"/>
                        <a:t>F1-Score</a:t>
                      </a:r>
                      <a:endParaRPr lang="en-IN" dirty="0"/>
                    </a:p>
                  </a:txBody>
                  <a:tcPr/>
                </a:tc>
                <a:tc>
                  <a:txBody>
                    <a:bodyPr/>
                    <a:lstStyle/>
                    <a:p>
                      <a:r>
                        <a:rPr lang="en-IN" dirty="0" smtClean="0"/>
                        <a:t>0.5912</a:t>
                      </a:r>
                      <a:endParaRPr lang="en-IN" dirty="0"/>
                    </a:p>
                  </a:txBody>
                  <a:tcPr/>
                </a:tc>
                <a:tc>
                  <a:txBody>
                    <a:bodyPr/>
                    <a:lstStyle/>
                    <a:p>
                      <a:r>
                        <a:rPr lang="en-IN" dirty="0" smtClean="0"/>
                        <a:t>0.6389</a:t>
                      </a:r>
                      <a:endParaRPr lang="en-IN" dirty="0"/>
                    </a:p>
                  </a:txBody>
                  <a:tcPr/>
                </a:tc>
              </a:tr>
              <a:tr h="370840">
                <a:tc>
                  <a:txBody>
                    <a:bodyPr/>
                    <a:lstStyle/>
                    <a:p>
                      <a:r>
                        <a:rPr lang="en-IN" dirty="0" err="1" smtClean="0"/>
                        <a:t>IoU</a:t>
                      </a:r>
                      <a:endParaRPr lang="en-IN" dirty="0"/>
                    </a:p>
                  </a:txBody>
                  <a:tcPr/>
                </a:tc>
                <a:tc>
                  <a:txBody>
                    <a:bodyPr/>
                    <a:lstStyle/>
                    <a:p>
                      <a:r>
                        <a:rPr lang="en-IN" dirty="0" smtClean="0"/>
                        <a:t>0.4197</a:t>
                      </a:r>
                      <a:endParaRPr lang="en-IN" dirty="0"/>
                    </a:p>
                  </a:txBody>
                  <a:tcPr/>
                </a:tc>
                <a:tc>
                  <a:txBody>
                    <a:bodyPr/>
                    <a:lstStyle/>
                    <a:p>
                      <a:r>
                        <a:rPr lang="en-IN" dirty="0" smtClean="0"/>
                        <a:t>0.4694</a:t>
                      </a:r>
                      <a:endParaRPr lang="en-IN" dirty="0"/>
                    </a:p>
                  </a:txBody>
                  <a:tcPr/>
                </a:tc>
              </a:tr>
              <a:tr h="370840">
                <a:tc>
                  <a:txBody>
                    <a:bodyPr/>
                    <a:lstStyle/>
                    <a:p>
                      <a:r>
                        <a:rPr lang="en-IN" dirty="0" smtClean="0"/>
                        <a:t>Dice Coefficient</a:t>
                      </a:r>
                      <a:endParaRPr lang="en-IN" dirty="0"/>
                    </a:p>
                  </a:txBody>
                  <a:tcPr/>
                </a:tc>
                <a:tc>
                  <a:txBody>
                    <a:bodyPr/>
                    <a:lstStyle/>
                    <a:p>
                      <a:r>
                        <a:rPr lang="en-IN" dirty="0" smtClean="0"/>
                        <a:t>0.5912</a:t>
                      </a:r>
                      <a:endParaRPr lang="en-IN" dirty="0"/>
                    </a:p>
                  </a:txBody>
                  <a:tcPr/>
                </a:tc>
                <a:tc>
                  <a:txBody>
                    <a:bodyPr/>
                    <a:lstStyle/>
                    <a:p>
                      <a:r>
                        <a:rPr lang="en-IN" dirty="0" smtClean="0"/>
                        <a:t>0.6389</a:t>
                      </a:r>
                      <a:endParaRPr lang="en-IN" dirty="0"/>
                    </a:p>
                  </a:txBody>
                  <a:tcPr/>
                </a:tc>
              </a:tr>
            </a:tbl>
          </a:graphicData>
        </a:graphic>
      </p:graphicFrame>
    </p:spTree>
    <p:extLst>
      <p:ext uri="{BB962C8B-B14F-4D97-AF65-F5344CB8AC3E}">
        <p14:creationId xmlns:p14="http://schemas.microsoft.com/office/powerpoint/2010/main" val="4293194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81" y="104775"/>
            <a:ext cx="8819138" cy="704850"/>
          </a:xfrm>
        </p:spPr>
        <p:txBody>
          <a:bodyPr>
            <a:normAutofit/>
          </a:bodyPr>
          <a:lstStyle/>
          <a:p>
            <a:r>
              <a:rPr lang="en-IN" sz="2800" b="1" dirty="0" smtClean="0">
                <a:latin typeface="Times New Roman" pitchFamily="18" charset="0"/>
                <a:cs typeface="Times New Roman" pitchFamily="18" charset="0"/>
              </a:rPr>
              <a:t>OBSERVATIONS</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576040" y="764704"/>
            <a:ext cx="9073008" cy="5688632"/>
          </a:xfrm>
        </p:spPr>
        <p:txBody>
          <a:bodyPr>
            <a:noAutofit/>
          </a:bodyPr>
          <a:lstStyle/>
          <a:p>
            <a:pPr algn="just"/>
            <a:r>
              <a:rPr lang="en-IN" sz="2200" dirty="0">
                <a:latin typeface="Times New Roman" pitchFamily="18" charset="0"/>
                <a:cs typeface="Times New Roman" pitchFamily="18" charset="0"/>
              </a:rPr>
              <a:t>Both </a:t>
            </a:r>
            <a:r>
              <a:rPr lang="en-IN" sz="2200" dirty="0" err="1">
                <a:latin typeface="Times New Roman" pitchFamily="18" charset="0"/>
                <a:cs typeface="Times New Roman" pitchFamily="18" charset="0"/>
              </a:rPr>
              <a:t>SegFormer</a:t>
            </a:r>
            <a:r>
              <a:rPr lang="en-IN" sz="2200" dirty="0">
                <a:latin typeface="Times New Roman" pitchFamily="18" charset="0"/>
                <a:cs typeface="Times New Roman" pitchFamily="18" charset="0"/>
              </a:rPr>
              <a:t> and </a:t>
            </a:r>
            <a:r>
              <a:rPr lang="en-IN" sz="2200" dirty="0" err="1">
                <a:latin typeface="Times New Roman" pitchFamily="18" charset="0"/>
                <a:cs typeface="Times New Roman" pitchFamily="18" charset="0"/>
              </a:rPr>
              <a:t>MobileViT</a:t>
            </a:r>
            <a:r>
              <a:rPr lang="en-IN" sz="2200" dirty="0">
                <a:latin typeface="Times New Roman" pitchFamily="18" charset="0"/>
                <a:cs typeface="Times New Roman" pitchFamily="18" charset="0"/>
              </a:rPr>
              <a:t> achieved high accuracy (&gt;96%), showing strong segmentation capability. </a:t>
            </a:r>
            <a:endParaRPr lang="en-IN" sz="2200" dirty="0" smtClean="0">
              <a:latin typeface="Times New Roman" pitchFamily="18" charset="0"/>
              <a:cs typeface="Times New Roman" pitchFamily="18" charset="0"/>
            </a:endParaRPr>
          </a:p>
          <a:p>
            <a:pPr algn="just"/>
            <a:r>
              <a:rPr lang="en-IN" sz="2200" dirty="0" err="1" smtClean="0">
                <a:latin typeface="Times New Roman" pitchFamily="18" charset="0"/>
                <a:cs typeface="Times New Roman" pitchFamily="18" charset="0"/>
              </a:rPr>
              <a:t>MobileViT</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performs better in precision and produces sharper boundaries for landslide regions. </a:t>
            </a:r>
            <a:endParaRPr lang="en-IN" sz="2200" dirty="0" smtClean="0">
              <a:latin typeface="Times New Roman" pitchFamily="18" charset="0"/>
              <a:cs typeface="Times New Roman" pitchFamily="18" charset="0"/>
            </a:endParaRPr>
          </a:p>
          <a:p>
            <a:pPr algn="just"/>
            <a:r>
              <a:rPr lang="en-IN" sz="2200" dirty="0" err="1" smtClean="0">
                <a:latin typeface="Times New Roman" pitchFamily="18" charset="0"/>
                <a:cs typeface="Times New Roman" pitchFamily="18" charset="0"/>
              </a:rPr>
              <a:t>SegFormer</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effectively captures global context, helping in understanding large-scale terrain patterns.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Transformer-based </a:t>
            </a:r>
            <a:r>
              <a:rPr lang="en-IN" sz="2200" dirty="0">
                <a:latin typeface="Times New Roman" pitchFamily="18" charset="0"/>
                <a:cs typeface="Times New Roman" pitchFamily="18" charset="0"/>
              </a:rPr>
              <a:t>models outperform traditional CNN models in feature extraction.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system successfully calculates landslide area and performs severity classification.</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4089484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81" y="104775"/>
            <a:ext cx="8819138" cy="704850"/>
          </a:xfrm>
        </p:spPr>
        <p:txBody>
          <a:bodyPr>
            <a:normAutofit/>
          </a:bodyPr>
          <a:lstStyle/>
          <a:p>
            <a:r>
              <a:rPr lang="en-IN" sz="2800" b="1" dirty="0" smtClean="0">
                <a:latin typeface="Times New Roman" pitchFamily="18" charset="0"/>
                <a:cs typeface="Times New Roman" pitchFamily="18" charset="0"/>
              </a:rPr>
              <a:t>CONCLUSION</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576040" y="764704"/>
            <a:ext cx="9073008" cy="5688632"/>
          </a:xfrm>
        </p:spPr>
        <p:txBody>
          <a:bodyPr>
            <a:noAutofit/>
          </a:bodyPr>
          <a:lstStyle/>
          <a:p>
            <a:pPr algn="just"/>
            <a:r>
              <a:rPr lang="en-US" sz="2150" dirty="0">
                <a:latin typeface="Times New Roman" pitchFamily="18" charset="0"/>
                <a:cs typeface="Times New Roman" pitchFamily="18" charset="0"/>
              </a:rPr>
              <a:t>This project presents a transformer-based approach for landslide segmentation using </a:t>
            </a:r>
            <a:r>
              <a:rPr lang="en-US" sz="2150" dirty="0" err="1">
                <a:latin typeface="Times New Roman" pitchFamily="18" charset="0"/>
                <a:cs typeface="Times New Roman" pitchFamily="18" charset="0"/>
              </a:rPr>
              <a:t>SegFormer</a:t>
            </a:r>
            <a:r>
              <a:rPr lang="en-US" sz="2150" dirty="0">
                <a:latin typeface="Times New Roman" pitchFamily="18" charset="0"/>
                <a:cs typeface="Times New Roman" pitchFamily="18" charset="0"/>
              </a:rPr>
              <a:t> and </a:t>
            </a:r>
            <a:r>
              <a:rPr lang="en-US" sz="2150" dirty="0" err="1">
                <a:latin typeface="Times New Roman" pitchFamily="18" charset="0"/>
                <a:cs typeface="Times New Roman" pitchFamily="18" charset="0"/>
              </a:rPr>
              <a:t>MobileViT</a:t>
            </a:r>
            <a:r>
              <a:rPr lang="en-US" sz="2150" dirty="0">
                <a:latin typeface="Times New Roman" pitchFamily="18" charset="0"/>
                <a:cs typeface="Times New Roman" pitchFamily="18" charset="0"/>
              </a:rPr>
              <a:t> models on the Landslide4Sense dataset. Both models demonstrate strong performance in identifying landslide and non-landslide regions with high accuracy and effective pixel-wise segmentation. </a:t>
            </a:r>
            <a:r>
              <a:rPr lang="en-US" sz="2150" dirty="0" err="1">
                <a:latin typeface="Times New Roman" pitchFamily="18" charset="0"/>
                <a:cs typeface="Times New Roman" pitchFamily="18" charset="0"/>
              </a:rPr>
              <a:t>MobileViT</a:t>
            </a:r>
            <a:r>
              <a:rPr lang="en-US" sz="2150" dirty="0">
                <a:latin typeface="Times New Roman" pitchFamily="18" charset="0"/>
                <a:cs typeface="Times New Roman" pitchFamily="18" charset="0"/>
              </a:rPr>
              <a:t> shows better precision and boundary detection due to its combination of local and global feature learning, while </a:t>
            </a:r>
            <a:r>
              <a:rPr lang="en-US" sz="2150" dirty="0" err="1">
                <a:latin typeface="Times New Roman" pitchFamily="18" charset="0"/>
                <a:cs typeface="Times New Roman" pitchFamily="18" charset="0"/>
              </a:rPr>
              <a:t>SegFormer</a:t>
            </a:r>
            <a:r>
              <a:rPr lang="en-US" sz="2150" dirty="0">
                <a:latin typeface="Times New Roman" pitchFamily="18" charset="0"/>
                <a:cs typeface="Times New Roman" pitchFamily="18" charset="0"/>
              </a:rPr>
              <a:t> efficiently captures large-scale contextual information with a lightweight architecture. The integration of area calculation and severity classification further enhances the practical usefulness of the system. Overall, the proposed framework proves to be reliable and efficient for automated landslide detection and can be effectively applied in disaster management, environmental monitoring, and geospatial risk assessment.</a:t>
            </a:r>
          </a:p>
        </p:txBody>
      </p:sp>
    </p:spTree>
    <p:extLst>
      <p:ext uri="{BB962C8B-B14F-4D97-AF65-F5344CB8AC3E}">
        <p14:creationId xmlns:p14="http://schemas.microsoft.com/office/powerpoint/2010/main" val="548401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81" y="104775"/>
            <a:ext cx="8819138" cy="704850"/>
          </a:xfrm>
        </p:spPr>
        <p:txBody>
          <a:bodyPr>
            <a:normAutofit/>
          </a:bodyPr>
          <a:lstStyle/>
          <a:p>
            <a:r>
              <a:rPr lang="en-IN" sz="2800" b="1" dirty="0" smtClean="0">
                <a:latin typeface="Times New Roman" pitchFamily="18" charset="0"/>
                <a:cs typeface="Times New Roman" pitchFamily="18" charset="0"/>
              </a:rPr>
              <a:t>FUTURE SCOPE</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576040" y="764704"/>
            <a:ext cx="9073008" cy="5688632"/>
          </a:xfrm>
        </p:spPr>
        <p:txBody>
          <a:bodyPr>
            <a:noAutofit/>
          </a:bodyPr>
          <a:lstStyle/>
          <a:p>
            <a:pPr algn="just"/>
            <a:r>
              <a:rPr lang="en-US" sz="2200" dirty="0">
                <a:latin typeface="Times New Roman" pitchFamily="18" charset="0"/>
                <a:cs typeface="Times New Roman" pitchFamily="18" charset="0"/>
              </a:rPr>
              <a:t>Improve landslide detection by addressing class imbalance using advanced loss functions.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Integrate </a:t>
            </a:r>
            <a:r>
              <a:rPr lang="en-US" sz="2200" dirty="0">
                <a:latin typeface="Times New Roman" pitchFamily="18" charset="0"/>
                <a:cs typeface="Times New Roman" pitchFamily="18" charset="0"/>
              </a:rPr>
              <a:t>additional data sources like DEM, rainfall, and SAR imagery for better accuracy.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Develop </a:t>
            </a:r>
            <a:r>
              <a:rPr lang="en-US" sz="2200" dirty="0">
                <a:latin typeface="Times New Roman" pitchFamily="18" charset="0"/>
                <a:cs typeface="Times New Roman" pitchFamily="18" charset="0"/>
              </a:rPr>
              <a:t>lightweight and optimized models for real-time applications.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Apply </a:t>
            </a:r>
            <a:r>
              <a:rPr lang="en-US" sz="2200" dirty="0">
                <a:latin typeface="Times New Roman" pitchFamily="18" charset="0"/>
                <a:cs typeface="Times New Roman" pitchFamily="18" charset="0"/>
              </a:rPr>
              <a:t>post-processing techniques to refine segmentation boundaries.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Test </a:t>
            </a:r>
            <a:r>
              <a:rPr lang="en-US" sz="2200" dirty="0">
                <a:latin typeface="Times New Roman" pitchFamily="18" charset="0"/>
                <a:cs typeface="Times New Roman" pitchFamily="18" charset="0"/>
              </a:rPr>
              <a:t>the models on different geographical regions to improve robustness.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Build </a:t>
            </a:r>
            <a:r>
              <a:rPr lang="en-US" sz="2200" dirty="0">
                <a:latin typeface="Times New Roman" pitchFamily="18" charset="0"/>
                <a:cs typeface="Times New Roman" pitchFamily="18" charset="0"/>
              </a:rPr>
              <a:t>a real-time web or mobile system for practical deployment.</a:t>
            </a:r>
          </a:p>
        </p:txBody>
      </p:sp>
    </p:spTree>
    <p:extLst>
      <p:ext uri="{BB962C8B-B14F-4D97-AF65-F5344CB8AC3E}">
        <p14:creationId xmlns:p14="http://schemas.microsoft.com/office/powerpoint/2010/main" val="3329818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82228" y="218114"/>
            <a:ext cx="2598788"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3" name="TextBox 2"/>
          <p:cNvSpPr txBox="1"/>
          <p:nvPr/>
        </p:nvSpPr>
        <p:spPr>
          <a:xfrm>
            <a:off x="196190" y="836712"/>
            <a:ext cx="9872608" cy="5847755"/>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[1]Z</a:t>
            </a:r>
            <a:r>
              <a:rPr lang="en-IN" sz="2200" dirty="0" err="1">
                <a:latin typeface="Times New Roman" pitchFamily="18" charset="0"/>
                <a:cs typeface="Times New Roman" pitchFamily="18" charset="0"/>
              </a:rPr>
              <a:t>Şener</a:t>
            </a:r>
            <a:r>
              <a:rPr lang="en-IN" sz="2200" dirty="0">
                <a:latin typeface="Times New Roman" pitchFamily="18" charset="0"/>
                <a:cs typeface="Times New Roman" pitchFamily="18" charset="0"/>
              </a:rPr>
              <a:t>, Abdullah, and </a:t>
            </a:r>
            <a:r>
              <a:rPr lang="en-IN" sz="2200" dirty="0" err="1">
                <a:latin typeface="Times New Roman" pitchFamily="18" charset="0"/>
                <a:cs typeface="Times New Roman" pitchFamily="18" charset="0"/>
              </a:rPr>
              <a:t>Burhan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Ergen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LandslideSegNet</a:t>
            </a:r>
            <a:r>
              <a:rPr lang="en-IN" sz="2200" dirty="0">
                <a:latin typeface="Times New Roman" pitchFamily="18" charset="0"/>
                <a:cs typeface="Times New Roman" pitchFamily="18" charset="0"/>
              </a:rPr>
              <a:t>: an effective deep learning network for landslide segmentation using remote sensing imagery." </a:t>
            </a:r>
            <a:r>
              <a:rPr lang="en-IN" sz="2200" i="1" dirty="0">
                <a:latin typeface="Times New Roman" pitchFamily="18" charset="0"/>
                <a:cs typeface="Times New Roman" pitchFamily="18" charset="0"/>
              </a:rPr>
              <a:t>Earth Science Informatics</a:t>
            </a:r>
            <a:r>
              <a:rPr lang="en-IN" sz="2200" dirty="0">
                <a:latin typeface="Times New Roman" pitchFamily="18" charset="0"/>
                <a:cs typeface="Times New Roman" pitchFamily="18" charset="0"/>
              </a:rPr>
              <a:t> 17.5 (2024): 3963-3977.</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2]</a:t>
            </a:r>
            <a:r>
              <a:rPr lang="en-IN" sz="2200" dirty="0" smtClean="0">
                <a:latin typeface="Times New Roman" pitchFamily="18" charset="0"/>
                <a:cs typeface="Times New Roman" pitchFamily="18" charset="0"/>
              </a:rPr>
              <a:t>Xiao </a:t>
            </a:r>
            <a:r>
              <a:rPr lang="en-IN" sz="2200" dirty="0" err="1">
                <a:latin typeface="Times New Roman" pitchFamily="18" charset="0"/>
                <a:cs typeface="Times New Roman" pitchFamily="18" charset="0"/>
              </a:rPr>
              <a:t>Feng</a:t>
            </a:r>
            <a:r>
              <a:rPr lang="en-IN" sz="2200" dirty="0">
                <a:latin typeface="Times New Roman" pitchFamily="18" charset="0"/>
                <a:cs typeface="Times New Roman" pitchFamily="18" charset="0"/>
              </a:rPr>
              <a:t>, Juan Du, </a:t>
            </a:r>
            <a:r>
              <a:rPr lang="en-IN" sz="2200" dirty="0" err="1">
                <a:latin typeface="Times New Roman" pitchFamily="18" charset="0"/>
                <a:cs typeface="Times New Roman" pitchFamily="18" charset="0"/>
              </a:rPr>
              <a:t>Minghua</a:t>
            </a:r>
            <a:r>
              <a:rPr lang="en-IN" sz="2200" dirty="0">
                <a:latin typeface="Times New Roman" pitchFamily="18" charset="0"/>
                <a:cs typeface="Times New Roman" pitchFamily="18" charset="0"/>
              </a:rPr>
              <a:t> Wu, Bo Chai, </a:t>
            </a:r>
            <a:r>
              <a:rPr lang="en-IN" sz="2200" dirty="0" err="1">
                <a:latin typeface="Times New Roman" pitchFamily="18" charset="0"/>
                <a:cs typeface="Times New Roman" pitchFamily="18" charset="0"/>
              </a:rPr>
              <a:t>Fasheng</a:t>
            </a:r>
            <a:r>
              <a:rPr lang="en-IN" sz="2200" dirty="0">
                <a:latin typeface="Times New Roman" pitchFamily="18" charset="0"/>
                <a:cs typeface="Times New Roman" pitchFamily="18" charset="0"/>
              </a:rPr>
              <a:t> Miao, Yang Wang,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"Potential </a:t>
            </a:r>
            <a:r>
              <a:rPr lang="en-IN" sz="2200" dirty="0">
                <a:latin typeface="Times New Roman" pitchFamily="18" charset="0"/>
                <a:cs typeface="Times New Roman" pitchFamily="18" charset="0"/>
              </a:rPr>
              <a:t>of synthetic images in landslide segmentation in data-poor scenario: a framework combining GAN and transformer models ", </a:t>
            </a:r>
            <a:r>
              <a:rPr lang="en-IN" sz="2200" i="1" dirty="0">
                <a:latin typeface="Times New Roman" pitchFamily="18" charset="0"/>
                <a:cs typeface="Times New Roman" pitchFamily="18" charset="0"/>
              </a:rPr>
              <a:t>Landslides</a:t>
            </a:r>
            <a:r>
              <a:rPr lang="en-IN" sz="2200" dirty="0">
                <a:latin typeface="Times New Roman" pitchFamily="18" charset="0"/>
                <a:cs typeface="Times New Roman" pitchFamily="18" charset="0"/>
              </a:rPr>
              <a:t> 21, 2211–2226 (2024</a:t>
            </a:r>
            <a:r>
              <a:rPr lang="en-IN" sz="2200" dirty="0" smtClean="0">
                <a:latin typeface="Times New Roman" pitchFamily="18" charset="0"/>
                <a:cs typeface="Times New Roman" pitchFamily="18" charset="0"/>
              </a:rPr>
              <a:t>).</a:t>
            </a:r>
            <a:endParaRPr lang="en-US" sz="2200" dirty="0" smtClean="0">
              <a:latin typeface="Times New Roman" panose="02020603050405020304" pitchFamily="18" charset="0"/>
              <a:cs typeface="Times New Roman" panose="02020603050405020304"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[3] </a:t>
            </a:r>
            <a:r>
              <a:rPr lang="en-US" sz="2200" dirty="0">
                <a:latin typeface="Times New Roman" pitchFamily="18" charset="0"/>
                <a:cs typeface="Times New Roman" pitchFamily="18" charset="0"/>
              </a:rPr>
              <a:t>Li H., He Y., </a:t>
            </a:r>
            <a:r>
              <a:rPr lang="en-US" sz="2200" dirty="0" err="1">
                <a:latin typeface="Times New Roman" pitchFamily="18" charset="0"/>
                <a:cs typeface="Times New Roman" pitchFamily="18" charset="0"/>
              </a:rPr>
              <a:t>Xu</a:t>
            </a:r>
            <a:r>
              <a:rPr lang="en-US" sz="2200" dirty="0">
                <a:latin typeface="Times New Roman" pitchFamily="18" charset="0"/>
                <a:cs typeface="Times New Roman" pitchFamily="18" charset="0"/>
              </a:rPr>
              <a:t> Q.  "</a:t>
            </a:r>
            <a:r>
              <a:rPr lang="en-US" sz="2200" dirty="0" smtClean="0">
                <a:latin typeface="Times New Roman" pitchFamily="18" charset="0"/>
                <a:cs typeface="Times New Roman" pitchFamily="18" charset="0"/>
              </a:rPr>
              <a:t>Semantic </a:t>
            </a:r>
            <a:r>
              <a:rPr lang="en-US" sz="2200" dirty="0">
                <a:latin typeface="Times New Roman" pitchFamily="18" charset="0"/>
                <a:cs typeface="Times New Roman" pitchFamily="18" charset="0"/>
              </a:rPr>
              <a:t>segmentation of loess landslides with STAPLE mask and fully connected conditional random field“, </a:t>
            </a:r>
            <a:r>
              <a:rPr lang="en-US" sz="2200" i="1" dirty="0">
                <a:latin typeface="Times New Roman" pitchFamily="18" charset="0"/>
                <a:cs typeface="Times New Roman" pitchFamily="18" charset="0"/>
              </a:rPr>
              <a:t>Landslides</a:t>
            </a:r>
            <a:r>
              <a:rPr lang="en-US" sz="2200" dirty="0">
                <a:latin typeface="Times New Roman" pitchFamily="18" charset="0"/>
                <a:cs typeface="Times New Roman" pitchFamily="18" charset="0"/>
              </a:rPr>
              <a:t> 20, 367–380 (2023</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[4] </a:t>
            </a:r>
            <a:r>
              <a:rPr lang="en-US" sz="2200" dirty="0">
                <a:latin typeface="Times New Roman" pitchFamily="18" charset="0"/>
                <a:cs typeface="Times New Roman" pitchFamily="18" charset="0"/>
              </a:rPr>
              <a:t>Huang, Faming, et al. "Efficient and automatic extraction of slope units based on multi-scale segmentation method for landslide assessments." </a:t>
            </a:r>
            <a:r>
              <a:rPr lang="en-US" sz="2200" i="1" dirty="0">
                <a:latin typeface="Times New Roman" pitchFamily="18" charset="0"/>
                <a:cs typeface="Times New Roman" pitchFamily="18" charset="0"/>
              </a:rPr>
              <a:t>Landslides</a:t>
            </a:r>
            <a:r>
              <a:rPr lang="en-US" sz="2200" dirty="0">
                <a:latin typeface="Times New Roman" pitchFamily="18" charset="0"/>
                <a:cs typeface="Times New Roman" pitchFamily="18" charset="0"/>
              </a:rPr>
              <a:t> 18 (2022): 3715-3731.</a:t>
            </a:r>
          </a:p>
          <a:p>
            <a:pPr algn="just"/>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24093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3992" y="269369"/>
            <a:ext cx="9872608" cy="5940088"/>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[5]</a:t>
            </a:r>
            <a:r>
              <a:rPr lang="en-US" sz="2000" dirty="0" err="1" smtClean="0">
                <a:latin typeface="Times New Roman" panose="02020603050405020304" pitchFamily="18" charset="0"/>
                <a:cs typeface="Times New Roman" panose="02020603050405020304" pitchFamily="18" charset="0"/>
              </a:rPr>
              <a:t>Xinran</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Liu, </a:t>
            </a:r>
            <a:r>
              <a:rPr lang="en-US" sz="2000" dirty="0" err="1">
                <a:latin typeface="Times New Roman" panose="02020603050405020304" pitchFamily="18" charset="0"/>
                <a:cs typeface="Times New Roman" panose="02020603050405020304" pitchFamily="18" charset="0"/>
              </a:rPr>
              <a:t>Yuexing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Peng</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Zili</a:t>
            </a:r>
            <a:r>
              <a:rPr lang="en-US" sz="2000" dirty="0">
                <a:latin typeface="Times New Roman" panose="02020603050405020304" pitchFamily="18" charset="0"/>
                <a:cs typeface="Times New Roman" panose="02020603050405020304" pitchFamily="18" charset="0"/>
              </a:rPr>
              <a:t> Lu , Wei Li , </a:t>
            </a:r>
            <a:r>
              <a:rPr lang="en-US" sz="2000" dirty="0" err="1">
                <a:latin typeface="Times New Roman" panose="02020603050405020304" pitchFamily="18" charset="0"/>
                <a:cs typeface="Times New Roman" panose="02020603050405020304" pitchFamily="18" charset="0"/>
              </a:rPr>
              <a:t>Junchuan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Yu,Daqing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Ge</a:t>
            </a:r>
            <a:r>
              <a:rPr lang="en-US" sz="2000" dirty="0">
                <a:latin typeface="Times New Roman" panose="02020603050405020304" pitchFamily="18" charset="0"/>
                <a:cs typeface="Times New Roman" panose="02020603050405020304" pitchFamily="18" charset="0"/>
              </a:rPr>
              <a:t>, and Wei Xiang,</a:t>
            </a:r>
            <a:r>
              <a:rPr lang="en-IN" sz="2000" dirty="0">
                <a:latin typeface="Times New Roman" pitchFamily="18" charset="0"/>
                <a:cs typeface="Times New Roman" pitchFamily="18" charset="0"/>
              </a:rPr>
              <a:t>"Feature-Fusion Segmentation Network for Landslide Detection Using High-Resolution Remote Sensing Images and Digital Elevation Model Data," in </a:t>
            </a:r>
            <a:r>
              <a:rPr lang="en-IN" sz="2000" i="1" dirty="0">
                <a:latin typeface="Times New Roman" pitchFamily="18" charset="0"/>
                <a:cs typeface="Times New Roman" pitchFamily="18" charset="0"/>
              </a:rPr>
              <a:t>IEEE Transactions on Geoscience and Remote Sensing</a:t>
            </a:r>
            <a:r>
              <a:rPr lang="en-IN" sz="2000" dirty="0">
                <a:latin typeface="Times New Roman" pitchFamily="18" charset="0"/>
                <a:cs typeface="Times New Roman" pitchFamily="18" charset="0"/>
              </a:rPr>
              <a:t>, vol. 61, pp. 1-14, 2023</a:t>
            </a:r>
            <a:r>
              <a:rPr lang="en-IN" sz="2000" dirty="0" smtClean="0">
                <a:latin typeface="Times New Roman" pitchFamily="18" charset="0"/>
                <a:cs typeface="Times New Roman" pitchFamily="18" charset="0"/>
              </a:rPr>
              <a:t>.</a:t>
            </a:r>
          </a:p>
          <a:p>
            <a:pPr algn="just"/>
            <a:endParaRPr lang="en-IN" sz="2000" dirty="0" smtClean="0">
              <a:latin typeface="Times New Roman" pitchFamily="18" charset="0"/>
              <a:cs typeface="Times New Roman" pitchFamily="18" charset="0"/>
            </a:endParaRPr>
          </a:p>
          <a:p>
            <a:pPr algn="just"/>
            <a:r>
              <a:rPr lang="en-IN" sz="2000" dirty="0" smtClean="0">
                <a:latin typeface="Times New Roman" pitchFamily="18" charset="0"/>
                <a:cs typeface="Times New Roman" pitchFamily="18" charset="0"/>
              </a:rPr>
              <a:t>[6]</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Huajin</a:t>
            </a:r>
            <a:r>
              <a:rPr lang="en-IN" sz="2000" dirty="0">
                <a:latin typeface="Times New Roman" pitchFamily="18" charset="0"/>
                <a:cs typeface="Times New Roman" pitchFamily="18" charset="0"/>
              </a:rPr>
              <a:t> Li, Yusen He, </a:t>
            </a:r>
            <a:r>
              <a:rPr lang="en-IN" sz="2000" dirty="0" err="1">
                <a:latin typeface="Times New Roman" pitchFamily="18" charset="0"/>
                <a:cs typeface="Times New Roman" pitchFamily="18" charset="0"/>
              </a:rPr>
              <a:t>Qiang</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Xu</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Jiahao</a:t>
            </a:r>
            <a:r>
              <a:rPr lang="en-IN" sz="2000" dirty="0">
                <a:latin typeface="Times New Roman" pitchFamily="18" charset="0"/>
                <a:cs typeface="Times New Roman" pitchFamily="18" charset="0"/>
              </a:rPr>
              <a:t> Deng, </a:t>
            </a:r>
            <a:r>
              <a:rPr lang="en-IN" sz="2000" dirty="0" err="1">
                <a:latin typeface="Times New Roman" pitchFamily="18" charset="0"/>
                <a:cs typeface="Times New Roman" pitchFamily="18" charset="0"/>
              </a:rPr>
              <a:t>Weile</a:t>
            </a:r>
            <a:r>
              <a:rPr lang="en-IN" sz="2000" dirty="0">
                <a:latin typeface="Times New Roman" pitchFamily="18" charset="0"/>
                <a:cs typeface="Times New Roman" pitchFamily="18" charset="0"/>
              </a:rPr>
              <a:t> Li , Yong Wei </a:t>
            </a:r>
            <a:r>
              <a:rPr lang="en-US" sz="2000" dirty="0">
                <a:latin typeface="Times New Roman" pitchFamily="18" charset="0"/>
                <a:cs typeface="Times New Roman" pitchFamily="18" charset="0"/>
              </a:rPr>
              <a:t>(2022), "Detection and segmentation of loess landslides via satellite images: A two-phase </a:t>
            </a:r>
            <a:r>
              <a:rPr lang="en-US" sz="2000" dirty="0" smtClean="0">
                <a:latin typeface="Times New Roman" pitchFamily="18" charset="0"/>
                <a:cs typeface="Times New Roman" pitchFamily="18" charset="0"/>
              </a:rPr>
              <a:t>framework" </a:t>
            </a:r>
            <a:r>
              <a:rPr lang="en-US" sz="2000" i="1" dirty="0">
                <a:latin typeface="Times New Roman" pitchFamily="18" charset="0"/>
                <a:cs typeface="Times New Roman" pitchFamily="18" charset="0"/>
              </a:rPr>
              <a:t>Landslides</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19</a:t>
            </a:r>
            <a:r>
              <a:rPr lang="en-US" sz="2000" dirty="0">
                <a:latin typeface="Times New Roman" panose="02020603050405020304" pitchFamily="18" charset="0"/>
                <a:cs typeface="Times New Roman" panose="02020603050405020304" pitchFamily="18" charset="0"/>
              </a:rPr>
              <a:t>(3), </a:t>
            </a:r>
            <a:r>
              <a:rPr lang="en-US" sz="2000" dirty="0" smtClean="0">
                <a:latin typeface="Times New Roman" panose="02020603050405020304" pitchFamily="18" charset="0"/>
                <a:cs typeface="Times New Roman" panose="02020603050405020304" pitchFamily="18" charset="0"/>
              </a:rPr>
              <a:t>673-686 (2022).</a:t>
            </a: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itchFamily="18" charset="0"/>
              <a:cs typeface="Times New Roman"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[7] L. </a:t>
            </a:r>
            <a:r>
              <a:rPr lang="en-US" sz="2000" dirty="0" err="1">
                <a:latin typeface="Times New Roman" panose="02020603050405020304" pitchFamily="18" charset="0"/>
                <a:cs typeface="Times New Roman" panose="02020603050405020304" pitchFamily="18" charset="0"/>
              </a:rPr>
              <a:t>Bragagnolo</a:t>
            </a:r>
            <a:r>
              <a:rPr lang="en-US" sz="2000" dirty="0">
                <a:latin typeface="Times New Roman" panose="02020603050405020304" pitchFamily="18" charset="0"/>
                <a:cs typeface="Times New Roman" panose="02020603050405020304" pitchFamily="18" charset="0"/>
              </a:rPr>
              <a:t>, L.R. </a:t>
            </a:r>
            <a:r>
              <a:rPr lang="en-US" sz="2000" dirty="0" err="1">
                <a:latin typeface="Times New Roman" panose="02020603050405020304" pitchFamily="18" charset="0"/>
                <a:cs typeface="Times New Roman" panose="02020603050405020304" pitchFamily="18" charset="0"/>
              </a:rPr>
              <a:t>Rezende</a:t>
            </a:r>
            <a:r>
              <a:rPr lang="en-US" sz="2000" dirty="0">
                <a:latin typeface="Times New Roman" panose="02020603050405020304" pitchFamily="18" charset="0"/>
                <a:cs typeface="Times New Roman" panose="02020603050405020304" pitchFamily="18" charset="0"/>
              </a:rPr>
              <a:t>, R.V. da Silva, J.M.V. </a:t>
            </a:r>
            <a:r>
              <a:rPr lang="en-US" sz="2000" dirty="0" err="1">
                <a:latin typeface="Times New Roman" panose="02020603050405020304" pitchFamily="18" charset="0"/>
                <a:cs typeface="Times New Roman" panose="02020603050405020304" pitchFamily="18" charset="0"/>
              </a:rPr>
              <a:t>Grzybowski</a:t>
            </a:r>
            <a:r>
              <a:rPr lang="en-US" sz="2000" dirty="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a:t>
            </a:r>
            <a:r>
              <a:rPr lang="en-US" sz="2000" dirty="0">
                <a:latin typeface="Times New Roman" panose="02020603050405020304" pitchFamily="18" charset="0"/>
                <a:cs typeface="Times New Roman" panose="02020603050405020304" pitchFamily="18" charset="0"/>
              </a:rPr>
              <a:t>Convolutional neural networks applied to semantic segmentation of landslide scars </a:t>
            </a:r>
            <a:r>
              <a:rPr lang="en-IN" sz="2000" dirty="0">
                <a:latin typeface="Times New Roman" pitchFamily="18" charset="0"/>
                <a:cs typeface="Times New Roman" pitchFamily="18" charset="0"/>
              </a:rPr>
              <a:t>"</a:t>
            </a:r>
            <a:r>
              <a:rPr lang="en-US" sz="2000" dirty="0">
                <a:latin typeface="Times New Roman" panose="02020603050405020304" pitchFamily="18" charset="0"/>
                <a:cs typeface="Times New Roman" panose="02020603050405020304" pitchFamily="18" charset="0"/>
              </a:rPr>
              <a:t>,CATENA, Volume 201,2021,105189,ISSN 0341-8162.</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[8</a:t>
            </a:r>
            <a:r>
              <a:rPr lang="en-US" sz="2000" dirty="0" smtClean="0">
                <a:latin typeface="Times New Roman" panose="02020603050405020304" pitchFamily="18" charset="0"/>
                <a:cs typeface="Times New Roman" panose="02020603050405020304" pitchFamily="18" charset="0"/>
              </a:rPr>
              <a:t>]</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Lv</a:t>
            </a:r>
            <a:r>
              <a:rPr lang="en-IN" sz="2000" dirty="0">
                <a:latin typeface="Times New Roman" pitchFamily="18" charset="0"/>
                <a:cs typeface="Times New Roman" pitchFamily="18" charset="0"/>
              </a:rPr>
              <a:t>, W. Shi, X. Zhang and J. A. </a:t>
            </a:r>
            <a:r>
              <a:rPr lang="en-IN" sz="2000" dirty="0" err="1">
                <a:latin typeface="Times New Roman" pitchFamily="18" charset="0"/>
                <a:cs typeface="Times New Roman" pitchFamily="18" charset="0"/>
              </a:rPr>
              <a:t>Benediktsson</a:t>
            </a:r>
            <a:r>
              <a:rPr lang="en-IN" sz="2000" dirty="0">
                <a:latin typeface="Times New Roman" pitchFamily="18" charset="0"/>
                <a:cs typeface="Times New Roman" pitchFamily="18" charset="0"/>
              </a:rPr>
              <a:t>, "Landslide Inventory Mapping From </a:t>
            </a:r>
            <a:r>
              <a:rPr lang="en-IN" sz="2000" dirty="0" err="1">
                <a:latin typeface="Times New Roman" pitchFamily="18" charset="0"/>
                <a:cs typeface="Times New Roman" pitchFamily="18" charset="0"/>
              </a:rPr>
              <a:t>Bitemporal</a:t>
            </a:r>
            <a:r>
              <a:rPr lang="en-IN" sz="2000" dirty="0">
                <a:latin typeface="Times New Roman" pitchFamily="18" charset="0"/>
                <a:cs typeface="Times New Roman" pitchFamily="18" charset="0"/>
              </a:rPr>
              <a:t> High-Resolution Remote Sensing Images Using Change Detection and </a:t>
            </a:r>
            <a:r>
              <a:rPr lang="en-IN" sz="2000" dirty="0" err="1">
                <a:latin typeface="Times New Roman" pitchFamily="18" charset="0"/>
                <a:cs typeface="Times New Roman" pitchFamily="18" charset="0"/>
              </a:rPr>
              <a:t>Multiscale</a:t>
            </a:r>
            <a:r>
              <a:rPr lang="en-IN" sz="2000" dirty="0">
                <a:latin typeface="Times New Roman" pitchFamily="18" charset="0"/>
                <a:cs typeface="Times New Roman" pitchFamily="18" charset="0"/>
              </a:rPr>
              <a:t> Segmentation," in </a:t>
            </a:r>
            <a:r>
              <a:rPr lang="en-IN" sz="2000" i="1" dirty="0">
                <a:latin typeface="Times New Roman" pitchFamily="18" charset="0"/>
                <a:cs typeface="Times New Roman" pitchFamily="18" charset="0"/>
              </a:rPr>
              <a:t>IEEE Journal of Selected Topics in Applied Earth Observations and Remote Sensing</a:t>
            </a:r>
            <a:r>
              <a:rPr lang="en-IN" sz="2000" dirty="0">
                <a:latin typeface="Times New Roman" pitchFamily="18" charset="0"/>
                <a:cs typeface="Times New Roman" pitchFamily="18" charset="0"/>
              </a:rPr>
              <a:t>, vol. 11, no. 5, pp. 1520-1532, May 2018.</a:t>
            </a:r>
            <a:endParaRPr lang="en-US" sz="2000" dirty="0">
              <a:latin typeface="Times New Roman" panose="02020603050405020304" pitchFamily="18" charset="0"/>
              <a:cs typeface="Times New Roman" panose="02020603050405020304" pitchFamily="18" charset="0"/>
            </a:endParaRPr>
          </a:p>
          <a:p>
            <a:pPr algn="just"/>
            <a:endParaRPr lang="en-IN" sz="2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911696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1546</TotalTime>
  <Words>1506</Words>
  <Application>Microsoft Office PowerPoint</Application>
  <PresentationFormat>Custom</PresentationFormat>
  <Paragraphs>281</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LandSlide Segmentation Using  Deep Learning Models</vt:lpstr>
      <vt:lpstr>PowerPoint Presentation</vt:lpstr>
      <vt:lpstr>INTRODUCTION</vt:lpstr>
      <vt:lpstr>PowerPoint Presentation</vt:lpstr>
      <vt:lpstr>PowerPoint Presentation</vt:lpstr>
      <vt:lpstr>           LITERATURE REVIEW</vt:lpstr>
      <vt:lpstr>PowerPoint Presentation</vt:lpstr>
      <vt:lpstr>LITERATURE SUMMARY</vt:lpstr>
      <vt:lpstr>PowerPoint Presentation</vt:lpstr>
      <vt:lpstr>PowerPoint Presentation</vt:lpstr>
      <vt:lpstr>ALGORITHMS USED</vt:lpstr>
      <vt:lpstr>PowerPoint Presentation</vt:lpstr>
      <vt:lpstr>PowerPoint Presentation</vt:lpstr>
      <vt:lpstr>ARCHITECTURE DIAGRAM </vt:lpstr>
      <vt:lpstr>IMPLEMENTATION</vt:lpstr>
      <vt:lpstr>PowerPoint Presentation</vt:lpstr>
      <vt:lpstr>RESULTS</vt:lpstr>
      <vt:lpstr>PowerPoint Presentation</vt:lpstr>
      <vt:lpstr>PowerPoint Presentation</vt:lpstr>
      <vt:lpstr>PowerPoint Presentation</vt:lpstr>
      <vt:lpstr>RESULT ANALYSIS</vt:lpstr>
      <vt:lpstr>OBSERVATIONS</vt:lpstr>
      <vt:lpstr>CONCLUSION</vt:lpstr>
      <vt:lpstr>FUTURE SCOPE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LandSlide Segmentation Using Deep Learning Models</dc:title>
  <dc:creator>Vatsalya</dc:creator>
  <cp:lastModifiedBy>Vatsalya</cp:lastModifiedBy>
  <cp:revision>63</cp:revision>
  <dcterms:created xsi:type="dcterms:W3CDTF">2025-08-18T17:36:39Z</dcterms:created>
  <dcterms:modified xsi:type="dcterms:W3CDTF">2026-04-20T04:10:58Z</dcterms:modified>
</cp:coreProperties>
</file>